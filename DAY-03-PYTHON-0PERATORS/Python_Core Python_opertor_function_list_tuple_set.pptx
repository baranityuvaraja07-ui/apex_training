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85"/>
  </p:notesMasterIdLst>
  <p:sldIdLst>
    <p:sldId id="256" r:id="rId2"/>
    <p:sldId id="1057" r:id="rId3"/>
    <p:sldId id="269" r:id="rId4"/>
    <p:sldId id="270" r:id="rId5"/>
    <p:sldId id="1058" r:id="rId6"/>
    <p:sldId id="1059" r:id="rId7"/>
    <p:sldId id="1060" r:id="rId8"/>
    <p:sldId id="1066" r:id="rId9"/>
    <p:sldId id="260" r:id="rId10"/>
    <p:sldId id="1068" r:id="rId11"/>
    <p:sldId id="308" r:id="rId12"/>
    <p:sldId id="1071" r:id="rId13"/>
    <p:sldId id="309" r:id="rId14"/>
    <p:sldId id="261" r:id="rId15"/>
    <p:sldId id="266" r:id="rId16"/>
    <p:sldId id="1072" r:id="rId17"/>
    <p:sldId id="1073" r:id="rId18"/>
    <p:sldId id="1544" r:id="rId19"/>
    <p:sldId id="1111" r:id="rId20"/>
    <p:sldId id="1505" r:id="rId21"/>
    <p:sldId id="1509" r:id="rId22"/>
    <p:sldId id="1506" r:id="rId23"/>
    <p:sldId id="1507" r:id="rId24"/>
    <p:sldId id="1508" r:id="rId25"/>
    <p:sldId id="1510" r:id="rId26"/>
    <p:sldId id="1503" r:id="rId27"/>
    <p:sldId id="1504" r:id="rId28"/>
    <p:sldId id="1514" r:id="rId29"/>
    <p:sldId id="1515" r:id="rId30"/>
    <p:sldId id="1061" r:id="rId31"/>
    <p:sldId id="1062" r:id="rId32"/>
    <p:sldId id="1063" r:id="rId33"/>
    <p:sldId id="1064" r:id="rId34"/>
    <p:sldId id="1074" r:id="rId35"/>
    <p:sldId id="1067" r:id="rId36"/>
    <p:sldId id="1079" r:id="rId37"/>
    <p:sldId id="1080" r:id="rId38"/>
    <p:sldId id="1065" r:id="rId39"/>
    <p:sldId id="1078" r:id="rId40"/>
    <p:sldId id="1075" r:id="rId41"/>
    <p:sldId id="1076" r:id="rId42"/>
    <p:sldId id="1083" r:id="rId43"/>
    <p:sldId id="1084" r:id="rId44"/>
    <p:sldId id="1081" r:id="rId45"/>
    <p:sldId id="1082" r:id="rId46"/>
    <p:sldId id="1543" r:id="rId47"/>
    <p:sldId id="1085" r:id="rId48"/>
    <p:sldId id="1086" r:id="rId49"/>
    <p:sldId id="1087" r:id="rId50"/>
    <p:sldId id="1089" r:id="rId51"/>
    <p:sldId id="1088" r:id="rId52"/>
    <p:sldId id="1090" r:id="rId53"/>
    <p:sldId id="1094" r:id="rId54"/>
    <p:sldId id="1107" r:id="rId55"/>
    <p:sldId id="1110" r:id="rId56"/>
    <p:sldId id="1112" r:id="rId57"/>
    <p:sldId id="1096" r:id="rId58"/>
    <p:sldId id="1097" r:id="rId59"/>
    <p:sldId id="1098" r:id="rId60"/>
    <p:sldId id="1099" r:id="rId61"/>
    <p:sldId id="1100" r:id="rId62"/>
    <p:sldId id="1101" r:id="rId63"/>
    <p:sldId id="943" r:id="rId64"/>
    <p:sldId id="1113" r:id="rId65"/>
    <p:sldId id="1103" r:id="rId66"/>
    <p:sldId id="1104" r:id="rId67"/>
    <p:sldId id="1512" r:id="rId68"/>
    <p:sldId id="1513" r:id="rId69"/>
    <p:sldId id="1524" r:id="rId70"/>
    <p:sldId id="1138" r:id="rId71"/>
    <p:sldId id="1139" r:id="rId72"/>
    <p:sldId id="1526" r:id="rId73"/>
    <p:sldId id="1522" r:id="rId74"/>
    <p:sldId id="1523" r:id="rId75"/>
    <p:sldId id="1525" r:id="rId76"/>
    <p:sldId id="1114" r:id="rId77"/>
    <p:sldId id="1131" r:id="rId78"/>
    <p:sldId id="1132" r:id="rId79"/>
    <p:sldId id="1133" r:id="rId80"/>
    <p:sldId id="1134" r:id="rId81"/>
    <p:sldId id="1135" r:id="rId82"/>
    <p:sldId id="1136" r:id="rId83"/>
    <p:sldId id="1527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1" autoAdjust="0"/>
    <p:restoredTop sz="97508" autoAdjust="0"/>
  </p:normalViewPr>
  <p:slideViewPr>
    <p:cSldViewPr snapToGrid="0">
      <p:cViewPr varScale="1">
        <p:scale>
          <a:sx n="81" d="100"/>
          <a:sy n="81" d="100"/>
        </p:scale>
        <p:origin x="84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60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39514-A94F-4E23-A310-038E53FAA04A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B1870-099E-441E-B126-FA960B17E2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9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8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8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89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9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1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2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1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2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2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630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6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560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70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59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6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E5C82-598D-4AE0-8D47-B06131F541F7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9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0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50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Python Variables, Constants and Literals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1" y="627797"/>
            <a:ext cx="10085695" cy="62302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/>
              <a:t>A variable is a named location used to store data in the memory.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</a:t>
            </a:r>
            <a:r>
              <a:rPr lang="en-US" sz="2100" b="1" dirty="0">
                <a:solidFill>
                  <a:srgbClr val="FF0000"/>
                </a:solidFill>
              </a:rPr>
              <a:t>Example: 1 :Declaring and assigning value to a variable</a:t>
            </a:r>
          </a:p>
          <a:p>
            <a:pPr marL="0" indent="0">
              <a:buNone/>
            </a:pPr>
            <a:r>
              <a:rPr lang="en-US" sz="2100" dirty="0"/>
              <a:t>website = "apple.com" </a:t>
            </a:r>
          </a:p>
          <a:p>
            <a:pPr marL="0" indent="0">
              <a:buNone/>
            </a:pPr>
            <a:r>
              <a:rPr lang="en-US" sz="2100" dirty="0"/>
              <a:t>print(website)    </a:t>
            </a:r>
          </a:p>
          <a:p>
            <a:pPr marL="0" indent="0">
              <a:buNone/>
            </a:pPr>
            <a:r>
              <a:rPr lang="en-US" sz="2100" dirty="0"/>
              <a:t>  </a:t>
            </a:r>
            <a:r>
              <a:rPr lang="en-US" sz="2100" dirty="0">
                <a:solidFill>
                  <a:srgbClr val="0070C0"/>
                </a:solidFill>
              </a:rPr>
              <a:t>output: apple.com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Example 2: Changing the value of a variable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website = "apple.com" </a:t>
            </a:r>
          </a:p>
          <a:p>
            <a:pPr marL="0" indent="0">
              <a:buNone/>
            </a:pPr>
            <a:r>
              <a:rPr lang="en-US" sz="1900" dirty="0"/>
              <a:t>print(website) 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</a:rPr>
              <a:t># assigning a new value to website </a:t>
            </a:r>
          </a:p>
          <a:p>
            <a:pPr marL="0" indent="0">
              <a:buNone/>
            </a:pPr>
            <a:r>
              <a:rPr lang="en-US" sz="1900" dirty="0"/>
              <a:t>website = "programiz.com" </a:t>
            </a:r>
          </a:p>
          <a:p>
            <a:pPr marL="0" indent="0">
              <a:buNone/>
            </a:pPr>
            <a:r>
              <a:rPr lang="en-US" sz="1900" dirty="0"/>
              <a:t>print(website)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Output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apple.com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programiz.com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2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Assignment: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93130"/>
            <a:ext cx="9470796" cy="4807669"/>
          </a:xfrm>
        </p:spPr>
        <p:txBody>
          <a:bodyPr>
            <a:normAutofit/>
          </a:bodyPr>
          <a:lstStyle/>
          <a:p>
            <a:r>
              <a:rPr lang="en-US" sz="2000" dirty="0"/>
              <a:t>Multiple assignment can be done in Python at a time.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 Assigning single value to multiple variable</a:t>
            </a:r>
            <a:br>
              <a:rPr lang="en-US" sz="2000" b="1" dirty="0"/>
            </a:b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 x=y=z=50  </a:t>
            </a:r>
          </a:p>
          <a:p>
            <a:pPr marL="0" indent="0">
              <a:buNone/>
            </a:pPr>
            <a:r>
              <a:rPr lang="en-US" sz="2000" dirty="0"/>
              <a:t>print (x)  </a:t>
            </a:r>
          </a:p>
          <a:p>
            <a:pPr marL="0" indent="0">
              <a:buNone/>
            </a:pPr>
            <a:r>
              <a:rPr lang="en-US" sz="2000" dirty="0"/>
              <a:t>print (y)  </a:t>
            </a:r>
          </a:p>
          <a:p>
            <a:pPr marL="0" indent="0">
              <a:buNone/>
            </a:pPr>
            <a:r>
              <a:rPr lang="en-US" sz="2000" dirty="0"/>
              <a:t>print (z)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0900" y="5357812"/>
            <a:ext cx="6959600" cy="118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8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Assignment: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2.Assigning multiple values to multiple variables:</a:t>
            </a:r>
          </a:p>
          <a:p>
            <a:pPr marL="0" indent="0">
              <a:buNone/>
            </a:pPr>
            <a:r>
              <a:rPr lang="en-US" sz="2400" dirty="0" err="1"/>
              <a:t>a,b,c</a:t>
            </a:r>
            <a:r>
              <a:rPr lang="en-US" sz="2400" dirty="0"/>
              <a:t>=5,10,15  </a:t>
            </a:r>
          </a:p>
          <a:p>
            <a:pPr marL="0" indent="0">
              <a:buNone/>
            </a:pPr>
            <a:r>
              <a:rPr lang="en-US" sz="2400" dirty="0"/>
              <a:t>print (a)  </a:t>
            </a:r>
          </a:p>
          <a:p>
            <a:pPr marL="0" indent="0">
              <a:buNone/>
            </a:pPr>
            <a:r>
              <a:rPr lang="en-US" sz="2400" dirty="0"/>
              <a:t>print (b)  </a:t>
            </a:r>
          </a:p>
          <a:p>
            <a:pPr marL="0" indent="0">
              <a:buNone/>
            </a:pPr>
            <a:r>
              <a:rPr lang="en-US" sz="2400" dirty="0"/>
              <a:t>print (c)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2800" y="4597400"/>
            <a:ext cx="70739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2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856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sz="3100" b="1" dirty="0"/>
              <a:t>Assigning multiple values to multiple variables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81" y="1050879"/>
            <a:ext cx="8850921" cy="515885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a, b, c = 5, 3.2, "Hello"</a:t>
            </a:r>
          </a:p>
          <a:p>
            <a:pPr marL="0" indent="0">
              <a:buNone/>
            </a:pPr>
            <a:r>
              <a:rPr lang="en-US" sz="2400" dirty="0"/>
              <a:t>print (a)</a:t>
            </a:r>
          </a:p>
          <a:p>
            <a:pPr marL="0" indent="0">
              <a:buNone/>
            </a:pPr>
            <a:r>
              <a:rPr lang="en-US" sz="2400" dirty="0"/>
              <a:t>print (b)</a:t>
            </a:r>
          </a:p>
          <a:p>
            <a:pPr marL="0" indent="0">
              <a:buNone/>
            </a:pPr>
            <a:r>
              <a:rPr lang="en-US" sz="2400" dirty="0"/>
              <a:t>print (c)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x = y = z = "same" </a:t>
            </a:r>
          </a:p>
          <a:p>
            <a:pPr marL="0" indent="0">
              <a:buNone/>
            </a:pPr>
            <a:r>
              <a:rPr lang="en-US" sz="2400" dirty="0"/>
              <a:t>print (x)</a:t>
            </a:r>
          </a:p>
          <a:p>
            <a:pPr marL="0" indent="0">
              <a:buNone/>
            </a:pPr>
            <a:r>
              <a:rPr lang="en-US" sz="2400" dirty="0"/>
              <a:t> print (y)</a:t>
            </a:r>
          </a:p>
          <a:p>
            <a:pPr marL="0" indent="0">
              <a:buNone/>
            </a:pPr>
            <a:r>
              <a:rPr lang="en-US" sz="2400" dirty="0"/>
              <a:t> print (z)</a:t>
            </a:r>
          </a:p>
        </p:txBody>
      </p:sp>
    </p:spTree>
    <p:extLst>
      <p:ext uri="{BB962C8B-B14F-4D97-AF65-F5344CB8AC3E}">
        <p14:creationId xmlns:p14="http://schemas.microsoft.com/office/powerpoint/2010/main" val="366344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String literals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391" y="1692941"/>
            <a:ext cx="8596668" cy="4062790"/>
          </a:xfrm>
        </p:spPr>
        <p:txBody>
          <a:bodyPr/>
          <a:lstStyle/>
          <a:p>
            <a:r>
              <a:rPr lang="en-US" dirty="0"/>
              <a:t>A string literal is a sequence of characters surrounded by quotes. We can use both </a:t>
            </a:r>
            <a:r>
              <a:rPr lang="en-US" dirty="0">
                <a:solidFill>
                  <a:srgbClr val="FF0000"/>
                </a:solidFill>
              </a:rPr>
              <a:t>single, double, or triple </a:t>
            </a:r>
            <a:r>
              <a:rPr lang="en-US" dirty="0"/>
              <a:t>quotes for a string.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x = "This is Python"</a:t>
            </a:r>
          </a:p>
          <a:p>
            <a:pPr marL="0" indent="0">
              <a:buNone/>
            </a:pPr>
            <a:r>
              <a:rPr lang="en-US" dirty="0"/>
              <a:t>y= 'C'</a:t>
            </a:r>
          </a:p>
          <a:p>
            <a:pPr marL="0" indent="0">
              <a:buNone/>
            </a:pPr>
            <a:r>
              <a:rPr lang="en-US" dirty="0"/>
              <a:t>z = """This is a multiline string with more than one line code."""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pPr marL="0" indent="0">
              <a:buNone/>
            </a:pPr>
            <a:r>
              <a:rPr lang="en-US" dirty="0"/>
              <a:t>print(y)</a:t>
            </a:r>
          </a:p>
          <a:p>
            <a:pPr marL="0" indent="0">
              <a:buNone/>
            </a:pPr>
            <a:r>
              <a:rPr lang="en-US" dirty="0"/>
              <a:t>print(z)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5838825"/>
            <a:ext cx="78390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970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Python Comments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433" y="1542197"/>
            <a:ext cx="8980227" cy="4499165"/>
          </a:xfrm>
        </p:spPr>
        <p:txBody>
          <a:bodyPr/>
          <a:lstStyle/>
          <a:p>
            <a:r>
              <a:rPr lang="en-US" dirty="0"/>
              <a:t>In Python, we use the hash (</a:t>
            </a:r>
            <a:r>
              <a:rPr lang="en-US" b="1" dirty="0">
                <a:solidFill>
                  <a:srgbClr val="FF0000"/>
                </a:solidFill>
              </a:rPr>
              <a:t>#</a:t>
            </a:r>
            <a:r>
              <a:rPr lang="en-US" dirty="0"/>
              <a:t>) symbol to start writing a comment.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Single line comment</a:t>
            </a:r>
          </a:p>
          <a:p>
            <a:pPr marL="0" indent="0">
              <a:buNone/>
            </a:pPr>
            <a:r>
              <a:rPr lang="en-US" dirty="0"/>
              <a:t> #This is a comment</a:t>
            </a:r>
          </a:p>
          <a:p>
            <a:pPr marL="0" indent="0">
              <a:buNone/>
            </a:pPr>
            <a:r>
              <a:rPr lang="en-US" dirty="0"/>
              <a:t> #print out</a:t>
            </a:r>
          </a:p>
          <a:p>
            <a:pPr marL="0" indent="0">
              <a:buNone/>
            </a:pPr>
            <a:r>
              <a:rPr lang="en-US" dirty="0"/>
              <a:t> Hello print('Hello’)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Multiline comment</a:t>
            </a:r>
          </a:p>
          <a:p>
            <a:pPr marL="0" indent="0">
              <a:buNone/>
            </a:pPr>
            <a:r>
              <a:rPr lang="en-US" dirty="0"/>
              <a:t>‘’’This is also a perfect example of multi-line comments’’’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81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Python Data Type: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622" y="1528138"/>
            <a:ext cx="7906963" cy="4790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078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err="1"/>
              <a:t>Datatypes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458" y="1707866"/>
            <a:ext cx="10515600" cy="49577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Python has five standard data types :-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Numberic</a:t>
            </a:r>
            <a:r>
              <a:rPr lang="en-US" sz="2800" dirty="0"/>
              <a:t> ( </a:t>
            </a:r>
            <a:r>
              <a:rPr lang="en-US" sz="2800" dirty="0" err="1"/>
              <a:t>Integer,Float</a:t>
            </a:r>
            <a:r>
              <a:rPr lang="en-US" sz="28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String (strings)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Boolean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List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Tuple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Dictionary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87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379" y="509048"/>
            <a:ext cx="8596668" cy="528979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# Python program to </a:t>
            </a:r>
          </a:p>
          <a:p>
            <a:pPr marL="0" indent="0">
              <a:buNone/>
            </a:pPr>
            <a:r>
              <a:rPr lang="en-US" sz="2400" dirty="0"/>
              <a:t># demonstrate numeric value </a:t>
            </a:r>
          </a:p>
          <a:p>
            <a:pPr marL="0" indent="0">
              <a:buNone/>
            </a:pPr>
            <a:r>
              <a:rPr lang="en-US" sz="2400" dirty="0"/>
              <a:t>a = 5 </a:t>
            </a:r>
          </a:p>
          <a:p>
            <a:pPr marL="0" indent="0">
              <a:buNone/>
            </a:pPr>
            <a:r>
              <a:rPr lang="en-US" sz="2400" dirty="0"/>
              <a:t>print("Type of a: ", </a:t>
            </a:r>
            <a:r>
              <a:rPr lang="en-US" sz="2400" b="1" dirty="0"/>
              <a:t>type</a:t>
            </a:r>
            <a:r>
              <a:rPr lang="en-US" sz="2400" dirty="0"/>
              <a:t>(a)) </a:t>
            </a:r>
          </a:p>
          <a:p>
            <a:pPr marL="0" indent="0">
              <a:buNone/>
            </a:pPr>
            <a:r>
              <a:rPr lang="en-US" sz="2400" dirty="0"/>
              <a:t>b = 5.0 </a:t>
            </a:r>
          </a:p>
          <a:p>
            <a:pPr marL="0" indent="0">
              <a:buNone/>
            </a:pPr>
            <a:r>
              <a:rPr lang="en-US" sz="2400" dirty="0"/>
              <a:t>print("\</a:t>
            </a:r>
            <a:r>
              <a:rPr lang="en-US" sz="2400" dirty="0" err="1"/>
              <a:t>nType</a:t>
            </a:r>
            <a:r>
              <a:rPr lang="en-US" sz="2400" dirty="0"/>
              <a:t> of b: ", </a:t>
            </a:r>
            <a:r>
              <a:rPr lang="en-US" sz="2400" b="1" dirty="0"/>
              <a:t>type</a:t>
            </a:r>
            <a:r>
              <a:rPr lang="en-US" sz="2400" dirty="0"/>
              <a:t>(b)) </a:t>
            </a:r>
          </a:p>
          <a:p>
            <a:pPr marL="0" indent="0">
              <a:buNone/>
            </a:pPr>
            <a:r>
              <a:rPr lang="en-US" sz="2400" dirty="0"/>
              <a:t> c=“welcome”</a:t>
            </a:r>
          </a:p>
          <a:p>
            <a:pPr marL="0" indent="0">
              <a:buNone/>
            </a:pPr>
            <a:r>
              <a:rPr lang="en-US" sz="2400" dirty="0"/>
              <a:t>Print(“\n Type of c:”,</a:t>
            </a:r>
            <a:r>
              <a:rPr lang="en-US" sz="2400" b="1" dirty="0"/>
              <a:t>type</a:t>
            </a:r>
            <a:r>
              <a:rPr lang="en-US" sz="2400" dirty="0"/>
              <a:t>(c))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284" y="5320958"/>
            <a:ext cx="6457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45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434" y="206375"/>
            <a:ext cx="8596668" cy="622300"/>
          </a:xfrm>
        </p:spPr>
        <p:txBody>
          <a:bodyPr>
            <a:normAutofit fontScale="90000"/>
          </a:bodyPr>
          <a:lstStyle/>
          <a:p>
            <a:r>
              <a:rPr lang="en-US" dirty="0"/>
              <a:t> Python </a:t>
            </a:r>
            <a:r>
              <a:rPr lang="en-US" b="1" dirty="0"/>
              <a:t>Strings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434" y="1231900"/>
            <a:ext cx="8596668" cy="48094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ch</a:t>
            </a:r>
            <a:r>
              <a:rPr lang="en-US" sz="2000" dirty="0"/>
              <a:t> = 'Hello Python'</a:t>
            </a:r>
          </a:p>
          <a:p>
            <a:pPr marL="0" indent="0">
              <a:buNone/>
            </a:pPr>
            <a:r>
              <a:rPr lang="en-US" sz="2000" dirty="0"/>
              <a:t>str1 = "String Chapter"</a:t>
            </a:r>
          </a:p>
          <a:p>
            <a:pPr marL="0" indent="0">
              <a:buNone/>
            </a:pPr>
            <a:r>
              <a:rPr lang="en-US" sz="2000" dirty="0"/>
              <a:t>print ("First value is: " ,  </a:t>
            </a:r>
            <a:r>
              <a:rPr lang="en-US" sz="2000" dirty="0" err="1"/>
              <a:t>ch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print ("Second value is: " ,  str1)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434" y="3517900"/>
            <a:ext cx="8263466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86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304209"/>
            <a:ext cx="8891865" cy="6359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Creating a String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with double Quotes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nString</a:t>
            </a:r>
            <a:r>
              <a:rPr lang="en-US" dirty="0"/>
              <a:t> with the use of Double Quotes: ")</a:t>
            </a:r>
          </a:p>
          <a:p>
            <a:pPr marL="0" indent="0">
              <a:buNone/>
            </a:pPr>
            <a:r>
              <a:rPr lang="en-US" dirty="0"/>
              <a:t>String1 = "I'm a Elysian"</a:t>
            </a:r>
          </a:p>
          <a:p>
            <a:pPr marL="0" indent="0">
              <a:buNone/>
            </a:pPr>
            <a:r>
              <a:rPr lang="en-US" dirty="0"/>
              <a:t>print(String1) </a:t>
            </a:r>
          </a:p>
          <a:p>
            <a:pPr marL="0" indent="0">
              <a:buNone/>
            </a:pPr>
            <a:r>
              <a:rPr lang="en-US" dirty="0"/>
              <a:t>print(type(String1))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Creating a String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# with triple Quotes </a:t>
            </a:r>
          </a:p>
          <a:p>
            <a:pPr marL="0" indent="0">
              <a:buNone/>
            </a:pPr>
            <a:r>
              <a:rPr lang="en-US" dirty="0"/>
              <a:t>String1 = '''I'm a </a:t>
            </a:r>
            <a:r>
              <a:rPr lang="en-US" dirty="0" err="1"/>
              <a:t>Elysianand</a:t>
            </a:r>
            <a:r>
              <a:rPr lang="en-US" dirty="0"/>
              <a:t> I live in a world of "Elysium"'''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nString</a:t>
            </a:r>
            <a:r>
              <a:rPr lang="en-US" dirty="0"/>
              <a:t> with the use of Triple Quotes: ") </a:t>
            </a:r>
          </a:p>
          <a:p>
            <a:pPr marL="0" indent="0">
              <a:buNone/>
            </a:pPr>
            <a:r>
              <a:rPr lang="en-US" dirty="0"/>
              <a:t>print(String1) </a:t>
            </a:r>
          </a:p>
          <a:p>
            <a:pPr marL="0" indent="0">
              <a:buNone/>
            </a:pPr>
            <a:r>
              <a:rPr lang="en-US" dirty="0"/>
              <a:t>print(type(String1))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84" y="5436662"/>
            <a:ext cx="4709188" cy="142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8410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61545"/>
          </a:xfrm>
        </p:spPr>
        <p:txBody>
          <a:bodyPr/>
          <a:lstStyle/>
          <a:p>
            <a:r>
              <a:rPr lang="en-US" dirty="0"/>
              <a:t>Python </a:t>
            </a:r>
            <a:r>
              <a:rPr lang="en-US" b="1" dirty="0"/>
              <a:t>Strings Using Slice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1145"/>
            <a:ext cx="8596668" cy="437021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ch</a:t>
            </a:r>
            <a:r>
              <a:rPr lang="en-US" sz="2000" dirty="0"/>
              <a:t> = "Hello Python"</a:t>
            </a:r>
          </a:p>
          <a:p>
            <a:pPr marL="0" indent="0">
              <a:buNone/>
            </a:pPr>
            <a:r>
              <a:rPr lang="en-US" sz="2000" dirty="0"/>
              <a:t>str1 = "String Chapter"</a:t>
            </a:r>
          </a:p>
          <a:p>
            <a:pPr marL="0" indent="0">
              <a:buNone/>
            </a:pPr>
            <a:r>
              <a:rPr lang="en-US" sz="2000" dirty="0"/>
              <a:t>print ("First single sub-string is: " ,  </a:t>
            </a:r>
            <a:r>
              <a:rPr lang="en-US" sz="2000" dirty="0" err="1"/>
              <a:t>ch</a:t>
            </a:r>
            <a:r>
              <a:rPr lang="en-US" sz="2000" dirty="0"/>
              <a:t>[0])</a:t>
            </a:r>
          </a:p>
          <a:p>
            <a:pPr marL="0" indent="0">
              <a:buNone/>
            </a:pPr>
            <a:r>
              <a:rPr lang="en-US" sz="2000" dirty="0"/>
              <a:t>print ("Set of sub-string is: " ,  str1[2:6])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7334" y="4292599"/>
            <a:ext cx="8596668" cy="19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79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Strings using Slice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2400" dirty="0" err="1"/>
              <a:t>str</a:t>
            </a:r>
            <a:r>
              <a:rPr lang="en-US" sz="2400" dirty="0"/>
              <a:t> = 'Hello World!'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 )             # Prints complete string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[0])          # Prints first character of the string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[2:5])       # Prints characters starting from 3rd to 5th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[2:])          # Prints string starting from 3rd character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 * 2)          # Prints string two times</a:t>
            </a:r>
          </a:p>
          <a:p>
            <a:pPr marL="0" indent="0">
              <a:buNone/>
            </a:pPr>
            <a:r>
              <a:rPr lang="en-US" sz="2400" dirty="0"/>
              <a:t>print (</a:t>
            </a:r>
            <a:r>
              <a:rPr lang="en-US" sz="2400" dirty="0" err="1"/>
              <a:t>str</a:t>
            </a:r>
            <a:r>
              <a:rPr lang="en-US" sz="2400" dirty="0"/>
              <a:t> + "TEST") # Prints concatenated string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970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3225"/>
            <a:ext cx="10515600" cy="854075"/>
          </a:xfrm>
        </p:spPr>
        <p:txBody>
          <a:bodyPr>
            <a:normAutofit fontScale="90000"/>
          </a:bodyPr>
          <a:lstStyle/>
          <a:p>
            <a:r>
              <a:rPr lang="en-US" dirty="0"/>
              <a:t> Python </a:t>
            </a:r>
            <a:r>
              <a:rPr lang="en-US" b="1" dirty="0"/>
              <a:t>Strings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199" y="1930399"/>
            <a:ext cx="8857593" cy="279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36" y="953116"/>
            <a:ext cx="8596668" cy="5904884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Accessing elements of String  Python, individual characters of a String can be accessed by using the method of Indexing.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Indexing allows negative address references to access characters from the back of the String, e.g. </a:t>
            </a:r>
            <a:r>
              <a:rPr lang="en-US" dirty="0">
                <a:solidFill>
                  <a:srgbClr val="FF0000"/>
                </a:solidFill>
              </a:rPr>
              <a:t>-1 refers to the last character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-2 refers to the second last character </a:t>
            </a:r>
            <a:r>
              <a:rPr lang="en-US" dirty="0"/>
              <a:t>and so o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82" y="3453878"/>
            <a:ext cx="78771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039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799" y="259307"/>
            <a:ext cx="8596668" cy="6359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# Python Program to Access </a:t>
            </a:r>
          </a:p>
          <a:p>
            <a:pPr marL="0" indent="0">
              <a:buNone/>
            </a:pPr>
            <a:r>
              <a:rPr lang="en-US" dirty="0"/>
              <a:t># characters of String </a:t>
            </a:r>
          </a:p>
          <a:p>
            <a:pPr marL="0" indent="0">
              <a:buNone/>
            </a:pPr>
            <a:r>
              <a:rPr lang="en-US" dirty="0"/>
              <a:t>String1 = "Elysium Academy"</a:t>
            </a:r>
          </a:p>
          <a:p>
            <a:pPr marL="0" indent="0">
              <a:buNone/>
            </a:pPr>
            <a:r>
              <a:rPr lang="en-US" dirty="0"/>
              <a:t>print("Initial String: ")</a:t>
            </a:r>
          </a:p>
          <a:p>
            <a:pPr marL="0" indent="0">
              <a:buNone/>
            </a:pPr>
            <a:r>
              <a:rPr lang="en-US" dirty="0"/>
              <a:t>print(String1)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# Printing First character 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nFirst</a:t>
            </a:r>
            <a:r>
              <a:rPr lang="en-US" dirty="0"/>
              <a:t> character of String is: ")</a:t>
            </a:r>
          </a:p>
          <a:p>
            <a:pPr marL="0" indent="0">
              <a:buNone/>
            </a:pPr>
            <a:r>
              <a:rPr lang="en-US" dirty="0"/>
              <a:t>print(String1[0])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Printing Last character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nLast</a:t>
            </a:r>
            <a:r>
              <a:rPr lang="en-US" dirty="0"/>
              <a:t> character of String is: ") </a:t>
            </a:r>
          </a:p>
          <a:p>
            <a:pPr marL="0" indent="0">
              <a:buNone/>
            </a:pPr>
            <a:r>
              <a:rPr lang="en-US" dirty="0"/>
              <a:t>print(String1[-1])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697" y="5259856"/>
            <a:ext cx="6313867" cy="1598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1618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082-FF02-84AF-0B48-CFE1B1A7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7F11-9D62-0E90-4FE5-A02C0994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6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Python input():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6378"/>
            <a:ext cx="9059790" cy="4646141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input() method reads a line from input, converts into a string and returns it.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input([prompt])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/>
              <a:t>Example 1 : How input() works in Python?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# get input from user 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>
                <a:solidFill>
                  <a:srgbClr val="FF0000"/>
                </a:solidFill>
              </a:rPr>
              <a:t>input</a:t>
            </a:r>
            <a:r>
              <a:rPr lang="en-US" dirty="0"/>
              <a:t>(‘Enter a String)</a:t>
            </a:r>
          </a:p>
          <a:p>
            <a:pPr marL="0" indent="0">
              <a:buNone/>
            </a:pPr>
            <a:r>
              <a:rPr lang="en-US" dirty="0"/>
              <a:t> print('The inputted string is:’, data)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38" y="5422110"/>
            <a:ext cx="6158041" cy="63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447175" y="2927179"/>
            <a:ext cx="47448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:2 </a:t>
            </a:r>
          </a:p>
          <a:p>
            <a:r>
              <a:rPr lang="en-US" dirty="0"/>
              <a:t>print("Enter your name:")</a:t>
            </a:r>
          </a:p>
          <a:p>
            <a:r>
              <a:rPr lang="en-US" dirty="0"/>
              <a:t>x = input()</a:t>
            </a:r>
          </a:p>
          <a:p>
            <a:r>
              <a:rPr lang="en-US" dirty="0"/>
              <a:t>print("Hello, " + x)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666" y="5012535"/>
            <a:ext cx="17049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297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AF82-E9A0-1B7C-DFDE-281767B6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447812" cy="842128"/>
          </a:xfrm>
        </p:spPr>
        <p:txBody>
          <a:bodyPr>
            <a:normAutofit fontScale="90000"/>
          </a:bodyPr>
          <a:lstStyle/>
          <a:p>
            <a:r>
              <a:rPr lang="en-IN" dirty="0"/>
              <a:t>Single Input Program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C320-7124-D376-5D38-BC2C45587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Sample Input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Enter your name: Jaya</a:t>
            </a:r>
          </a:p>
          <a:p>
            <a:pPr marL="0" indent="0">
              <a:buNone/>
            </a:pPr>
            <a:r>
              <a:rPr lang="en-US" b="1" dirty="0"/>
              <a:t>Sample Output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Hello Jaya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BB4C5-0941-81B0-41D9-A4C3AD669A49}"/>
              </a:ext>
            </a:extLst>
          </p:cNvPr>
          <p:cNvSpPr txBox="1"/>
          <p:nvPr/>
        </p:nvSpPr>
        <p:spPr>
          <a:xfrm>
            <a:off x="421850" y="1621492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Problem:</a:t>
            </a:r>
            <a:r>
              <a:rPr lang="en-US" dirty="0"/>
              <a:t> Get user name and print it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7E291-D530-3D15-E18C-FC43104A581D}"/>
              </a:ext>
            </a:extLst>
          </p:cNvPr>
          <p:cNvSpPr txBox="1"/>
          <p:nvPr/>
        </p:nvSpPr>
        <p:spPr>
          <a:xfrm>
            <a:off x="677334" y="4371383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name = input("Enter your name: ")</a:t>
            </a:r>
          </a:p>
          <a:p>
            <a:r>
              <a:rPr lang="en-IN" b="1" dirty="0"/>
              <a:t>print("Hello", name)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F93209-9641-9B6E-4666-8973D7A27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621" y="5789831"/>
            <a:ext cx="7667134" cy="9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67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E50E-E1A8-9234-8A4E-6C4AFEA9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+ Integer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672FE3-BAEA-510C-F285-729C96D2F37B}"/>
              </a:ext>
            </a:extLst>
          </p:cNvPr>
          <p:cNvSpPr txBox="1"/>
          <p:nvPr/>
        </p:nvSpPr>
        <p:spPr>
          <a:xfrm>
            <a:off x="677334" y="1561068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Problem:</a:t>
            </a:r>
            <a:r>
              <a:rPr lang="en-IN" dirty="0"/>
              <a:t> Student 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CB8DC-542C-9907-6AE3-F30960E9E767}"/>
              </a:ext>
            </a:extLst>
          </p:cNvPr>
          <p:cNvSpPr txBox="1"/>
          <p:nvPr/>
        </p:nvSpPr>
        <p:spPr>
          <a:xfrm>
            <a:off x="1034592" y="2375084"/>
            <a:ext cx="6103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Sample Input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Enter name: Arun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Enter age: 21</a:t>
            </a:r>
          </a:p>
          <a:p>
            <a:pPr>
              <a:buNone/>
            </a:pPr>
            <a:r>
              <a:rPr lang="en-US" b="1" dirty="0"/>
              <a:t>Sample 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Name: Arun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Age: 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6B597-DFE0-66F8-F531-ECC0C8FB4531}"/>
              </a:ext>
            </a:extLst>
          </p:cNvPr>
          <p:cNvSpPr txBox="1"/>
          <p:nvPr/>
        </p:nvSpPr>
        <p:spPr>
          <a:xfrm>
            <a:off x="1034592" y="4681748"/>
            <a:ext cx="6103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= </a:t>
            </a:r>
            <a:r>
              <a:rPr lang="en-US" dirty="0">
                <a:solidFill>
                  <a:srgbClr val="FF0000"/>
                </a:solidFill>
              </a:rPr>
              <a:t>input</a:t>
            </a:r>
            <a:r>
              <a:rPr lang="en-US" dirty="0"/>
              <a:t>("Enter name: ")</a:t>
            </a:r>
            <a:br>
              <a:rPr lang="en-US" dirty="0"/>
            </a:br>
            <a:r>
              <a:rPr lang="en-US" dirty="0"/>
              <a:t>age = </a:t>
            </a:r>
            <a:r>
              <a:rPr lang="en-US" dirty="0">
                <a:solidFill>
                  <a:srgbClr val="FF0000"/>
                </a:solidFill>
              </a:rPr>
              <a:t>int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input</a:t>
            </a:r>
            <a:r>
              <a:rPr lang="en-US" dirty="0"/>
              <a:t>("Enter age: "))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print("Name:", name)</a:t>
            </a:r>
            <a:br>
              <a:rPr lang="en-US" dirty="0"/>
            </a:br>
            <a:r>
              <a:rPr lang="en-US" dirty="0"/>
              <a:t>print("Age:", age)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113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7083-8C83-9F7E-C6C1-C642882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86" y="15623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 Integer Input Program</a:t>
            </a:r>
            <a:br>
              <a:rPr lang="en-US" sz="3100" b="1" dirty="0"/>
            </a:br>
            <a:r>
              <a:rPr lang="en-US" sz="3100" b="1" dirty="0"/>
              <a:t>Problem Statement :</a:t>
            </a:r>
            <a:r>
              <a:rPr lang="en-US" sz="3100" dirty="0"/>
              <a:t> Find square of a number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94DB-591D-DE9E-3D5C-362A37D42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81" y="3264771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/>
              <a:t>num</a:t>
            </a:r>
            <a:r>
              <a:rPr lang="en-IN" b="1" dirty="0"/>
              <a:t> = </a:t>
            </a:r>
            <a:r>
              <a:rPr lang="en-IN" b="1" dirty="0">
                <a:solidFill>
                  <a:srgbClr val="FF0000"/>
                </a:solidFill>
              </a:rPr>
              <a:t>int</a:t>
            </a:r>
            <a:r>
              <a:rPr lang="en-IN" b="1" dirty="0"/>
              <a:t>(</a:t>
            </a:r>
            <a:r>
              <a:rPr lang="en-IN" b="1" dirty="0">
                <a:solidFill>
                  <a:srgbClr val="FF0000"/>
                </a:solidFill>
              </a:rPr>
              <a:t>input</a:t>
            </a:r>
            <a:r>
              <a:rPr lang="en-IN" b="1" dirty="0"/>
              <a:t>("Enter a number: "))</a:t>
            </a:r>
            <a:br>
              <a:rPr lang="en-IN" b="1" dirty="0"/>
            </a:br>
            <a:r>
              <a:rPr lang="en-IN" b="1" dirty="0"/>
              <a:t>square = </a:t>
            </a:r>
            <a:r>
              <a:rPr lang="en-IN" b="1" dirty="0" err="1"/>
              <a:t>num</a:t>
            </a:r>
            <a:r>
              <a:rPr lang="en-IN" b="1" dirty="0"/>
              <a:t> * </a:t>
            </a:r>
            <a:r>
              <a:rPr lang="en-IN" b="1" dirty="0" err="1"/>
              <a:t>num</a:t>
            </a:r>
            <a:br>
              <a:rPr lang="en-IN" b="1" dirty="0"/>
            </a:br>
            <a:r>
              <a:rPr lang="en-IN" b="1" dirty="0"/>
              <a:t>print("Square is", square)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F25BD-DED5-E048-70A8-B36B4EA44B7E}"/>
              </a:ext>
            </a:extLst>
          </p:cNvPr>
          <p:cNvSpPr txBox="1"/>
          <p:nvPr/>
        </p:nvSpPr>
        <p:spPr>
          <a:xfrm>
            <a:off x="554786" y="1477038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Sample Input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Enter a number: 5</a:t>
            </a:r>
          </a:p>
          <a:p>
            <a:pPr>
              <a:buNone/>
            </a:pPr>
            <a:r>
              <a:rPr lang="en-US" b="1" dirty="0"/>
              <a:t>Sample 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Square is 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40433-508C-0344-769F-BB9B809E3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3" y="4779245"/>
            <a:ext cx="2812941" cy="82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52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95A4-C2F0-C84F-9A1D-26182F7E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Inputs (Same Line)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B0B66-A809-40EA-7CD7-F02EE1EC16C5}"/>
              </a:ext>
            </a:extLst>
          </p:cNvPr>
          <p:cNvSpPr txBox="1"/>
          <p:nvPr/>
        </p:nvSpPr>
        <p:spPr>
          <a:xfrm>
            <a:off x="677334" y="1930400"/>
            <a:ext cx="6103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Sample Input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Enter two numbers: 10 20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Sample 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Sum =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E85A5-D6E0-2E15-4120-34CB20081077}"/>
              </a:ext>
            </a:extLst>
          </p:cNvPr>
          <p:cNvSpPr txBox="1"/>
          <p:nvPr/>
        </p:nvSpPr>
        <p:spPr>
          <a:xfrm>
            <a:off x="677334" y="3947177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a, b = map(int, input("Enter two numbers: ").split())</a:t>
            </a:r>
          </a:p>
          <a:p>
            <a:r>
              <a:rPr lang="en-IN" dirty="0"/>
              <a:t>print("Sum =", a + b)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E8BC90-397F-BC2F-1965-196E1DAB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73" y="5464685"/>
            <a:ext cx="9458227" cy="139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0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107C-ED2F-4CD9-07D7-0C0C5103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Inputs (Different Lines)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8D74F-4A5A-4F06-6D8E-41866CE63F85}"/>
              </a:ext>
            </a:extLst>
          </p:cNvPr>
          <p:cNvSpPr txBox="1"/>
          <p:nvPr/>
        </p:nvSpPr>
        <p:spPr>
          <a:xfrm>
            <a:off x="1015739" y="2326841"/>
            <a:ext cx="6103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Sample Input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Enter Tamil mark: 80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Enter English mark: 75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Enter Maths mark: 90</a:t>
            </a:r>
          </a:p>
          <a:p>
            <a:pPr>
              <a:buNone/>
            </a:pPr>
            <a:r>
              <a:rPr lang="en-IN" b="1" dirty="0"/>
              <a:t>Sample Output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Total = 245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A2809-BCBB-4A2D-9666-3FA42FECE3DD}"/>
              </a:ext>
            </a:extLst>
          </p:cNvPr>
          <p:cNvSpPr txBox="1"/>
          <p:nvPr/>
        </p:nvSpPr>
        <p:spPr>
          <a:xfrm>
            <a:off x="677334" y="1722136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Problem:</a:t>
            </a:r>
            <a:r>
              <a:rPr lang="en-IN" dirty="0"/>
              <a:t> Total marks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4019A-6DD6-5AC2-1CDF-4489C02ADCD3}"/>
              </a:ext>
            </a:extLst>
          </p:cNvPr>
          <p:cNvSpPr txBox="1"/>
          <p:nvPr/>
        </p:nvSpPr>
        <p:spPr>
          <a:xfrm>
            <a:off x="677334" y="4477608"/>
            <a:ext cx="6103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tamil</a:t>
            </a:r>
            <a:r>
              <a:rPr lang="en-IN" dirty="0"/>
              <a:t> = </a:t>
            </a:r>
            <a:r>
              <a:rPr lang="en-IN" b="1" dirty="0">
                <a:solidFill>
                  <a:srgbClr val="FF0000"/>
                </a:solidFill>
              </a:rPr>
              <a:t>int</a:t>
            </a:r>
            <a:r>
              <a:rPr lang="en-IN" dirty="0"/>
              <a:t>(</a:t>
            </a:r>
            <a:r>
              <a:rPr lang="en-IN" b="1" dirty="0">
                <a:solidFill>
                  <a:srgbClr val="FF0000"/>
                </a:solidFill>
              </a:rPr>
              <a:t>input</a:t>
            </a:r>
            <a:r>
              <a:rPr lang="en-IN" dirty="0"/>
              <a:t>("Enter Tamil mark: "))</a:t>
            </a:r>
            <a:br>
              <a:rPr lang="en-IN" dirty="0"/>
            </a:br>
            <a:r>
              <a:rPr lang="en-IN" dirty="0" err="1"/>
              <a:t>english</a:t>
            </a:r>
            <a:r>
              <a:rPr lang="en-IN" dirty="0"/>
              <a:t> = </a:t>
            </a:r>
            <a:r>
              <a:rPr lang="en-IN" b="1" dirty="0">
                <a:solidFill>
                  <a:srgbClr val="FF0000"/>
                </a:solidFill>
              </a:rPr>
              <a:t>int</a:t>
            </a:r>
            <a:r>
              <a:rPr lang="en-IN" dirty="0"/>
              <a:t>(</a:t>
            </a:r>
            <a:r>
              <a:rPr lang="en-IN" b="1" dirty="0">
                <a:solidFill>
                  <a:srgbClr val="FF0000"/>
                </a:solidFill>
              </a:rPr>
              <a:t>input</a:t>
            </a:r>
            <a:r>
              <a:rPr lang="en-IN" dirty="0"/>
              <a:t>("Enter English mark: "))</a:t>
            </a:r>
            <a:br>
              <a:rPr lang="en-IN" dirty="0"/>
            </a:br>
            <a:r>
              <a:rPr lang="en-IN" dirty="0"/>
              <a:t>maths = </a:t>
            </a:r>
            <a:r>
              <a:rPr lang="en-IN" b="1" dirty="0">
                <a:solidFill>
                  <a:srgbClr val="FF0000"/>
                </a:solidFill>
              </a:rPr>
              <a:t>int</a:t>
            </a:r>
            <a:r>
              <a:rPr lang="en-IN" dirty="0"/>
              <a:t>(</a:t>
            </a:r>
            <a:r>
              <a:rPr lang="en-IN" b="1" dirty="0"/>
              <a:t>input</a:t>
            </a:r>
            <a:r>
              <a:rPr lang="en-IN" dirty="0"/>
              <a:t>("Enter Maths mark: "))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total = </a:t>
            </a:r>
            <a:r>
              <a:rPr lang="en-IN" dirty="0" err="1"/>
              <a:t>tamil</a:t>
            </a:r>
            <a:r>
              <a:rPr lang="en-IN" dirty="0"/>
              <a:t> + </a:t>
            </a:r>
            <a:r>
              <a:rPr lang="en-IN" dirty="0" err="1"/>
              <a:t>english</a:t>
            </a:r>
            <a:r>
              <a:rPr lang="en-IN" dirty="0"/>
              <a:t> + maths</a:t>
            </a:r>
            <a:br>
              <a:rPr lang="en-IN" dirty="0"/>
            </a:br>
            <a:r>
              <a:rPr lang="en-IN" dirty="0"/>
              <a:t>print("Total =", total)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F63BAA-B732-F368-64E5-6E0488BA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34" y="5732348"/>
            <a:ext cx="6592478" cy="11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3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2659-E51C-2A19-06F9-7650D4F4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Example (Payment)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98460-D38D-05FC-3028-124C6113192F}"/>
              </a:ext>
            </a:extLst>
          </p:cNvPr>
          <p:cNvSpPr txBox="1"/>
          <p:nvPr/>
        </p:nvSpPr>
        <p:spPr>
          <a:xfrm>
            <a:off x="572679" y="1561068"/>
            <a:ext cx="6103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Problem statement #1 : Payment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A9D97-EB70-092B-9A8D-F17EA6C9CF7F}"/>
              </a:ext>
            </a:extLst>
          </p:cNvPr>
          <p:cNvSpPr txBox="1"/>
          <p:nvPr/>
        </p:nvSpPr>
        <p:spPr>
          <a:xfrm>
            <a:off x="1194848" y="2186547"/>
            <a:ext cx="6103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Sample Input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Enter </a:t>
            </a:r>
            <a:r>
              <a:rPr lang="en-US" dirty="0" err="1">
                <a:latin typeface="Courier New" panose="02070309020205020404" pitchFamily="49" charset="0"/>
              </a:rPr>
              <a:t>CreditCard</a:t>
            </a:r>
            <a:r>
              <a:rPr lang="en-US" dirty="0">
                <a:latin typeface="Courier New" panose="02070309020205020404" pitchFamily="49" charset="0"/>
              </a:rPr>
              <a:t> Payment Amount: 1000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Enter UPI Payment Amount: 500</a:t>
            </a:r>
          </a:p>
          <a:p>
            <a:pPr>
              <a:buNone/>
            </a:pPr>
            <a:r>
              <a:rPr lang="en-US" b="1" dirty="0"/>
              <a:t>Sample 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Paid 1000 using Credit Card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Paid 500 using UPI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B4B9E-066E-693C-6202-E982B1CB1D3D}"/>
              </a:ext>
            </a:extLst>
          </p:cNvPr>
          <p:cNvSpPr txBox="1"/>
          <p:nvPr/>
        </p:nvSpPr>
        <p:spPr>
          <a:xfrm>
            <a:off x="572679" y="4700601"/>
            <a:ext cx="6103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/>
              <a:t>credit = int(input("Enter </a:t>
            </a:r>
            <a:r>
              <a:rPr lang="en-US" dirty="0" err="1"/>
              <a:t>CreditCard</a:t>
            </a:r>
            <a:r>
              <a:rPr lang="en-US" dirty="0"/>
              <a:t> Payment Amount: "))</a:t>
            </a:r>
            <a:br>
              <a:rPr lang="en-US" dirty="0"/>
            </a:br>
            <a:r>
              <a:rPr lang="en-US" dirty="0" err="1"/>
              <a:t>upi</a:t>
            </a:r>
            <a:r>
              <a:rPr lang="en-US" dirty="0"/>
              <a:t> = int(input("Enter UPI Payment Amount: "))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print("Paid", credit, "using Credit Card")</a:t>
            </a:r>
            <a:br>
              <a:rPr lang="en-US" dirty="0"/>
            </a:br>
            <a:r>
              <a:rPr lang="en-US" dirty="0"/>
              <a:t>print("Paid", </a:t>
            </a:r>
            <a:r>
              <a:rPr lang="en-US" dirty="0" err="1"/>
              <a:t>upi</a:t>
            </a:r>
            <a:r>
              <a:rPr lang="en-US" dirty="0"/>
              <a:t>, "using UPI")</a:t>
            </a:r>
          </a:p>
        </p:txBody>
      </p:sp>
    </p:spTree>
    <p:extLst>
      <p:ext uri="{BB962C8B-B14F-4D97-AF65-F5344CB8AC3E}">
        <p14:creationId xmlns:p14="http://schemas.microsoft.com/office/powerpoint/2010/main" val="636264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1E3C-443F-E0D7-FF80-7C363293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Types </a:t>
            </a:r>
            <a:br>
              <a:rPr lang="en-IN" dirty="0"/>
            </a:br>
            <a:r>
              <a:rPr lang="en-IN" dirty="0"/>
              <a:t>Problem Statement #2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C937-ADCA-3A32-E11A-E0035ADEA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9505"/>
            <a:ext cx="9343359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a Python program to take different types of input (integer, float, string) and display their </a:t>
            </a:r>
            <a:r>
              <a:rPr lang="en-US" b="1" dirty="0"/>
              <a:t>data types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Sample Input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Enter integer: 5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Enter float: 3.5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Enter name: John</a:t>
            </a:r>
          </a:p>
          <a:p>
            <a:pPr marL="0" indent="0">
              <a:buNone/>
            </a:pPr>
            <a:r>
              <a:rPr lang="en-IN" b="1" dirty="0"/>
              <a:t>Sample 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Integer type: &lt;class 'int'&gt;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Float type: &lt;class 'float'&gt;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String type: &lt;class 'str'&gt;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138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EDC8-A502-6C90-F67D-4CD02931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E02B3-E135-21E1-4002-B89C02477644}"/>
              </a:ext>
            </a:extLst>
          </p:cNvPr>
          <p:cNvSpPr txBox="1"/>
          <p:nvPr/>
        </p:nvSpPr>
        <p:spPr>
          <a:xfrm>
            <a:off x="677334" y="1721012"/>
            <a:ext cx="8596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 Data Type Example</a:t>
            </a:r>
          </a:p>
          <a:p>
            <a:r>
              <a:rPr lang="en-IN" dirty="0" err="1"/>
              <a:t>num</a:t>
            </a:r>
            <a:r>
              <a:rPr lang="en-IN" dirty="0"/>
              <a:t> = int(input("Enter integer: "))</a:t>
            </a:r>
          </a:p>
          <a:p>
            <a:r>
              <a:rPr lang="en-IN" dirty="0"/>
              <a:t>decimal = float(input("Enter float: "))</a:t>
            </a:r>
          </a:p>
          <a:p>
            <a:r>
              <a:rPr lang="en-IN" dirty="0"/>
              <a:t>name = input("Enter name: ")</a:t>
            </a:r>
          </a:p>
          <a:p>
            <a:endParaRPr lang="en-IN" dirty="0"/>
          </a:p>
          <a:p>
            <a:r>
              <a:rPr lang="en-IN" dirty="0"/>
              <a:t>print("Integer type:", type(</a:t>
            </a:r>
            <a:r>
              <a:rPr lang="en-IN" dirty="0" err="1"/>
              <a:t>num</a:t>
            </a:r>
            <a:r>
              <a:rPr lang="en-IN" dirty="0"/>
              <a:t>))</a:t>
            </a:r>
          </a:p>
          <a:p>
            <a:r>
              <a:rPr lang="en-IN" dirty="0"/>
              <a:t>print("Float type:", type(decimal))</a:t>
            </a:r>
          </a:p>
          <a:p>
            <a:r>
              <a:rPr lang="en-IN" dirty="0"/>
              <a:t>print("String type:", type(name))</a:t>
            </a:r>
          </a:p>
        </p:txBody>
      </p:sp>
    </p:spTree>
    <p:extLst>
      <p:ext uri="{BB962C8B-B14F-4D97-AF65-F5344CB8AC3E}">
        <p14:creationId xmlns:p14="http://schemas.microsoft.com/office/powerpoint/2010/main" val="2143288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152CA-D6D2-3E5D-40BC-74A4C80C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8FCD-73B5-E002-62C3-BD95F7C3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238905" cy="1320800"/>
          </a:xfrm>
        </p:spPr>
        <p:txBody>
          <a:bodyPr>
            <a:normAutofit/>
          </a:bodyPr>
          <a:lstStyle/>
          <a:p>
            <a:r>
              <a:rPr lang="en-US" sz="3200" b="1" dirty="0"/>
              <a:t>Program to enter details of an Student Marks and average and print them. ’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FF9A-3F03-D864-C5A9-D28C8DBD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930400"/>
            <a:ext cx="8826500" cy="4596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rollno</a:t>
            </a:r>
            <a:r>
              <a:rPr lang="en-US" dirty="0"/>
              <a:t>=int(input("Enter your Roll no\t"))</a:t>
            </a:r>
          </a:p>
          <a:p>
            <a:pPr marL="0" indent="0">
              <a:buNone/>
            </a:pPr>
            <a:r>
              <a:rPr lang="en-US" dirty="0"/>
              <a:t>name=input("Enter your name\t")</a:t>
            </a:r>
          </a:p>
          <a:p>
            <a:pPr marL="0" indent="0">
              <a:buNone/>
            </a:pPr>
            <a:r>
              <a:rPr lang="en-US" dirty="0"/>
              <a:t>math=float(input("Enter your marks in Math\t"))</a:t>
            </a:r>
          </a:p>
          <a:p>
            <a:pPr marL="0" indent="0">
              <a:buNone/>
            </a:pPr>
            <a:r>
              <a:rPr lang="en-US" dirty="0"/>
              <a:t>physics=float(input("Enter your marks in Physics\t"))</a:t>
            </a:r>
          </a:p>
          <a:p>
            <a:pPr marL="0" indent="0">
              <a:buNone/>
            </a:pPr>
            <a:r>
              <a:rPr lang="en-US" dirty="0"/>
              <a:t>chemistry=float(input("Enter your marks in Chemistry\t"))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print("Welcome\t ",name)</a:t>
            </a:r>
          </a:p>
          <a:p>
            <a:pPr marL="0" indent="0">
              <a:buNone/>
            </a:pPr>
            <a:r>
              <a:rPr lang="en-US" dirty="0"/>
              <a:t>print("Your Roll no is\t ",</a:t>
            </a:r>
            <a:r>
              <a:rPr lang="en-US" dirty="0" err="1"/>
              <a:t>rollno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print("Marks in </a:t>
            </a:r>
            <a:r>
              <a:rPr lang="en-US" dirty="0" err="1"/>
              <a:t>Maths</a:t>
            </a:r>
            <a:r>
              <a:rPr lang="en-US" dirty="0"/>
              <a:t> is\t ",math)</a:t>
            </a:r>
          </a:p>
          <a:p>
            <a:pPr marL="0" indent="0">
              <a:buNone/>
            </a:pPr>
            <a:r>
              <a:rPr lang="en-US" dirty="0"/>
              <a:t>print("Marks in Physics is\t ",physics)</a:t>
            </a:r>
          </a:p>
          <a:p>
            <a:pPr marL="0" indent="0">
              <a:buNone/>
            </a:pPr>
            <a:r>
              <a:rPr lang="en-US" dirty="0"/>
              <a:t>print("Marks in Chemistry is\t ",chemistry)</a:t>
            </a:r>
          </a:p>
          <a:p>
            <a:pPr marL="0" indent="0">
              <a:buNone/>
            </a:pPr>
            <a:r>
              <a:rPr lang="en-US" dirty="0"/>
              <a:t>print("Average marks is \t",(</a:t>
            </a:r>
            <a:r>
              <a:rPr lang="en-US" dirty="0" err="1"/>
              <a:t>math+physics+chemistry</a:t>
            </a:r>
            <a:r>
              <a:rPr lang="en-US" dirty="0"/>
              <a:t>)/3)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3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8E8B-7F36-32BF-EFE7-99CE441D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58C47-55C0-F4E9-E18E-2E19543D7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4" y="1584032"/>
            <a:ext cx="10950804" cy="384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63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39" y="156238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Python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468" y="1477038"/>
            <a:ext cx="8596668" cy="414432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Python divides the operators in the following groups: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Arithmetic operators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Assignment operators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Comparison operators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Logical operators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Identity operators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Membership operators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59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3860"/>
            <a:ext cx="8596668" cy="3880773"/>
          </a:xfrm>
        </p:spPr>
        <p:txBody>
          <a:bodyPr/>
          <a:lstStyle/>
          <a:p>
            <a:r>
              <a:rPr lang="en-US" dirty="0"/>
              <a:t>Arithmetic </a:t>
            </a:r>
            <a:r>
              <a:rPr lang="en-US" dirty="0" err="1"/>
              <a:t>operators:Arithmetic</a:t>
            </a:r>
            <a:r>
              <a:rPr lang="en-US" dirty="0"/>
              <a:t> operators are used to perform mathematical operations like addition, subtraction, multiplication and division.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946" y="2844538"/>
            <a:ext cx="7905750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147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435" y="0"/>
            <a:ext cx="8596668" cy="1320800"/>
          </a:xfrm>
        </p:spPr>
        <p:txBody>
          <a:bodyPr/>
          <a:lstStyle/>
          <a:p>
            <a:r>
              <a:rPr lang="en-US" dirty="0"/>
              <a:t>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391" y="619663"/>
            <a:ext cx="8596668" cy="62383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sz="2100" dirty="0"/>
              <a:t>x = 5</a:t>
            </a:r>
          </a:p>
          <a:p>
            <a:pPr marL="0" indent="0">
              <a:buNone/>
            </a:pPr>
            <a:r>
              <a:rPr lang="es-ES" sz="2100" dirty="0"/>
              <a:t>y = 3</a:t>
            </a:r>
          </a:p>
          <a:p>
            <a:pPr marL="0" indent="0">
              <a:buNone/>
            </a:pPr>
            <a:endParaRPr lang="es-E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0000"/>
                </a:solidFill>
              </a:rPr>
              <a:t># Addition of numbers </a:t>
            </a:r>
            <a:endParaRPr lang="es-ES" sz="2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2100" dirty="0" err="1"/>
              <a:t>print</a:t>
            </a:r>
            <a:r>
              <a:rPr lang="es-ES" sz="2100" dirty="0"/>
              <a:t>(x + y)</a:t>
            </a:r>
          </a:p>
          <a:p>
            <a:endParaRPr lang="es-ES" sz="2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FF0000"/>
                </a:solidFill>
              </a:rPr>
              <a:t># Subtraction of numbers </a:t>
            </a:r>
            <a:endParaRPr lang="es-ES" sz="2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2100" dirty="0"/>
              <a:t> </a:t>
            </a:r>
            <a:r>
              <a:rPr lang="es-ES" sz="2100" dirty="0" err="1"/>
              <a:t>print</a:t>
            </a:r>
            <a:r>
              <a:rPr lang="es-ES" sz="2100" dirty="0"/>
              <a:t>(x - y)</a:t>
            </a:r>
          </a:p>
          <a:p>
            <a:pPr marL="0" indent="0">
              <a:buNone/>
            </a:pPr>
            <a:endParaRPr lang="es-E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0000"/>
                </a:solidFill>
              </a:rPr>
              <a:t># Multiplication of number </a:t>
            </a:r>
          </a:p>
          <a:p>
            <a:pPr marL="0" indent="0">
              <a:buNone/>
            </a:pPr>
            <a:r>
              <a:rPr lang="en-US" sz="2100" dirty="0"/>
              <a:t>print(x * y)</a:t>
            </a:r>
          </a:p>
          <a:p>
            <a:pPr marL="0" indent="0">
              <a:buNone/>
            </a:pPr>
            <a:endParaRPr lang="es-ES" sz="2100" dirty="0"/>
          </a:p>
          <a:p>
            <a:pPr marL="0" indent="0">
              <a:buNone/>
            </a:pPr>
            <a:r>
              <a:rPr lang="es-ES" sz="2100" dirty="0"/>
              <a:t>x = 12</a:t>
            </a:r>
          </a:p>
          <a:p>
            <a:pPr marL="0" indent="0">
              <a:buNone/>
            </a:pPr>
            <a:r>
              <a:rPr lang="es-ES" sz="2100" dirty="0"/>
              <a:t>y = 3</a:t>
            </a:r>
          </a:p>
          <a:p>
            <a:pPr marL="0" indent="0">
              <a:buNone/>
            </a:pPr>
            <a:endParaRPr lang="es-E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0000"/>
                </a:solidFill>
              </a:rPr>
              <a:t># </a:t>
            </a:r>
            <a:r>
              <a:rPr lang="en-US" sz="2100" dirty="0" err="1">
                <a:solidFill>
                  <a:srgbClr val="FF0000"/>
                </a:solidFill>
              </a:rPr>
              <a:t>Divisionof</a:t>
            </a:r>
            <a:r>
              <a:rPr lang="en-US" sz="2100" dirty="0">
                <a:solidFill>
                  <a:srgbClr val="FF0000"/>
                </a:solidFill>
              </a:rPr>
              <a:t> number </a:t>
            </a:r>
            <a:endParaRPr lang="es-E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2400" dirty="0" err="1"/>
              <a:t>print</a:t>
            </a:r>
            <a:r>
              <a:rPr lang="es-ES" sz="2400" dirty="0"/>
              <a:t>(x / y)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3147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19663"/>
            <a:ext cx="8596668" cy="582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X=5</a:t>
            </a:r>
          </a:p>
          <a:p>
            <a:pPr marL="0" indent="0">
              <a:buNone/>
            </a:pPr>
            <a:r>
              <a:rPr lang="es-ES" dirty="0"/>
              <a:t>Y=2</a:t>
            </a:r>
          </a:p>
          <a:p>
            <a:pPr marL="0" indent="0">
              <a:buNone/>
            </a:pPr>
            <a:r>
              <a:rPr lang="es-ES" dirty="0" err="1"/>
              <a:t>print</a:t>
            </a:r>
            <a:r>
              <a:rPr lang="es-ES" dirty="0"/>
              <a:t>(x % y)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x = 2</a:t>
            </a:r>
          </a:p>
          <a:p>
            <a:pPr marL="0" indent="0">
              <a:buNone/>
            </a:pPr>
            <a:r>
              <a:rPr lang="es-ES" dirty="0"/>
              <a:t>y = 3</a:t>
            </a:r>
          </a:p>
          <a:p>
            <a:pPr marL="0" indent="0">
              <a:buNone/>
            </a:pPr>
            <a:r>
              <a:rPr lang="es-ES" dirty="0" err="1"/>
              <a:t>print</a:t>
            </a:r>
            <a:r>
              <a:rPr lang="es-ES" dirty="0"/>
              <a:t>(x ** y)  #</a:t>
            </a:r>
            <a:r>
              <a:rPr lang="es-ES" dirty="0" err="1"/>
              <a:t>same</a:t>
            </a:r>
            <a:r>
              <a:rPr lang="es-ES" dirty="0"/>
              <a:t> as 2*2*2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US" dirty="0"/>
              <a:t>x = 21</a:t>
            </a:r>
          </a:p>
          <a:p>
            <a:pPr marL="0" indent="0">
              <a:buNone/>
            </a:pPr>
            <a:r>
              <a:rPr lang="en-US" dirty="0"/>
              <a:t>y = 2</a:t>
            </a:r>
          </a:p>
          <a:p>
            <a:pPr marL="0" indent="0">
              <a:buNone/>
            </a:pPr>
            <a:r>
              <a:rPr lang="en-US" dirty="0"/>
              <a:t>print(x // y)</a:t>
            </a:r>
          </a:p>
          <a:p>
            <a:pPr marL="0" indent="0">
              <a:buNone/>
            </a:pPr>
            <a:r>
              <a:rPr lang="en-US" dirty="0"/>
              <a:t>#the floor division // rounds the result down to the nearest whole number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538" y="5458120"/>
            <a:ext cx="5594462" cy="1399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207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Relational operators compares the values. It either returns True or False according to the condition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36" y="3418764"/>
            <a:ext cx="748665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7167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70149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a = 13</a:t>
            </a:r>
          </a:p>
          <a:p>
            <a:pPr marL="0" indent="0">
              <a:buNone/>
            </a:pPr>
            <a:r>
              <a:rPr lang="en-US" dirty="0"/>
              <a:t>b = 33</a:t>
            </a:r>
          </a:p>
          <a:p>
            <a:pPr marL="0" indent="0">
              <a:buNone/>
            </a:pPr>
            <a:r>
              <a:rPr lang="en-US" dirty="0"/>
              <a:t># a &gt; b is False</a:t>
            </a:r>
          </a:p>
          <a:p>
            <a:pPr marL="0" indent="0">
              <a:buNone/>
            </a:pPr>
            <a:r>
              <a:rPr lang="en-US" dirty="0"/>
              <a:t> print(a &gt; 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# a &lt; b is True</a:t>
            </a:r>
          </a:p>
          <a:p>
            <a:pPr marL="0" indent="0">
              <a:buNone/>
            </a:pPr>
            <a:r>
              <a:rPr lang="en-US" dirty="0"/>
              <a:t> print(a &lt; b)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 == b is False</a:t>
            </a:r>
          </a:p>
          <a:p>
            <a:pPr marL="0" indent="0">
              <a:buNone/>
            </a:pPr>
            <a:r>
              <a:rPr lang="en-US" dirty="0"/>
              <a:t> print(a == b)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 != b is True</a:t>
            </a:r>
          </a:p>
          <a:p>
            <a:pPr marL="0" indent="0">
              <a:buNone/>
            </a:pPr>
            <a:r>
              <a:rPr lang="en-US" dirty="0"/>
              <a:t> print(a != 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# a &gt;= b is False</a:t>
            </a:r>
          </a:p>
          <a:p>
            <a:pPr marL="0" indent="0">
              <a:buNone/>
            </a:pPr>
            <a:r>
              <a:rPr lang="en-US" dirty="0"/>
              <a:t> print(a &gt;= b) </a:t>
            </a:r>
          </a:p>
          <a:p>
            <a:pPr marL="0" indent="0">
              <a:buNone/>
            </a:pPr>
            <a:r>
              <a:rPr lang="en-US" dirty="0"/>
              <a:t># a &lt;= b is True</a:t>
            </a:r>
          </a:p>
          <a:p>
            <a:pPr marL="0" indent="0">
              <a:buNone/>
            </a:pPr>
            <a:r>
              <a:rPr lang="en-US" dirty="0"/>
              <a:t> print(a &lt;= b)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0" y="464837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OutPut</a:t>
            </a:r>
            <a:r>
              <a:rPr lang="en-US" dirty="0"/>
              <a:t>: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80071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799" y="0"/>
            <a:ext cx="8596668" cy="6537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y =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print(x == y)</a:t>
            </a:r>
          </a:p>
          <a:p>
            <a:pPr marL="0" indent="0">
              <a:buNone/>
            </a:pPr>
            <a:r>
              <a:rPr lang="en-US" dirty="0"/>
              <a:t># returns False because 5 is not equal to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y =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print(x != y)</a:t>
            </a:r>
          </a:p>
          <a:p>
            <a:pPr marL="0" indent="0">
              <a:buNone/>
            </a:pPr>
            <a:r>
              <a:rPr lang="en-US" dirty="0"/>
              <a:t># returns True because 5 is not equal to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2</a:t>
            </a:r>
          </a:p>
          <a:p>
            <a:pPr marL="0" indent="0">
              <a:buNone/>
            </a:pPr>
            <a:r>
              <a:rPr lang="en-US" dirty="0"/>
              <a:t>y = 3</a:t>
            </a:r>
          </a:p>
          <a:p>
            <a:pPr marL="0" indent="0">
              <a:buNone/>
            </a:pPr>
            <a:r>
              <a:rPr lang="en-US" dirty="0"/>
              <a:t>print(x &gt; 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53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09433"/>
            <a:ext cx="8596668" cy="5631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x = 3</a:t>
            </a:r>
          </a:p>
          <a:p>
            <a:pPr marL="0" indent="0">
              <a:buNone/>
            </a:pPr>
            <a:r>
              <a:rPr lang="en-US" dirty="0"/>
              <a:t>y =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print(x &gt;= 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y = 3</a:t>
            </a:r>
          </a:p>
          <a:p>
            <a:pPr marL="0" indent="0">
              <a:buNone/>
            </a:pPr>
            <a:r>
              <a:rPr lang="en-US" dirty="0"/>
              <a:t>print(x &lt;= y)</a:t>
            </a:r>
          </a:p>
          <a:p>
            <a:pPr marL="0" indent="0">
              <a:buNone/>
            </a:pPr>
            <a:r>
              <a:rPr lang="en-US" dirty="0"/>
              <a:t># returns False because 5 is neither less than or equal to 3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798" y="5363570"/>
            <a:ext cx="7480546" cy="1494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826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Assignment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955" y="1828801"/>
            <a:ext cx="9001047" cy="42125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9" y="1614842"/>
            <a:ext cx="8291363" cy="422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0577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391" y="225189"/>
            <a:ext cx="8596668" cy="65645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x -= 3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x *= 3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x /= 3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r>
              <a:rPr lang="en-US" dirty="0"/>
              <a:t>x%=3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3</a:t>
            </a:r>
          </a:p>
          <a:p>
            <a:pPr marL="0" indent="0">
              <a:buNone/>
            </a:pPr>
            <a:r>
              <a:rPr lang="en-US" dirty="0"/>
              <a:t>x **= 3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036" y="5647985"/>
            <a:ext cx="5989234" cy="121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6405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866" y="206505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Logical operators perform Logical AND, Logical OR and Logical NOT operations.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49" y="2705668"/>
            <a:ext cx="8420668" cy="2808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431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152" y="440971"/>
            <a:ext cx="8821508" cy="64170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x =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print(x &gt; 3 and x &lt; 10)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returns True because 5 is greater than 3 AND 5 is less than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print(x &gt; 3 or x &lt; 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returns True because one of the conditions are true (5 is greater than 3, but 5 is not less than 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print(not(x &gt; 3 and x &lt; 10))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returns False because not is used to reverse the result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093" y="6136139"/>
            <a:ext cx="5484907" cy="72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2072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4980"/>
            <a:ext cx="9654443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in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not in </a:t>
            </a:r>
            <a:r>
              <a:rPr lang="en-US" sz="2000" dirty="0"/>
              <a:t>are the membership operators; used to test whether a value or variable is in a sequence.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in</a:t>
            </a:r>
            <a:r>
              <a:rPr lang="en-US" sz="2000" dirty="0"/>
              <a:t> True if value is found in the sequence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not in </a:t>
            </a:r>
            <a:r>
              <a:rPr lang="en-US" sz="2000" dirty="0"/>
              <a:t>True if value is not found in the sequence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288" y="3894138"/>
            <a:ext cx="636270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0432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37231"/>
            <a:ext cx="8596668" cy="50041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x = ["apple", "banana"]</a:t>
            </a:r>
          </a:p>
          <a:p>
            <a:pPr marL="0" indent="0">
              <a:buNone/>
            </a:pPr>
            <a:r>
              <a:rPr lang="en-US" dirty="0"/>
              <a:t>print("banana" 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dirty="0"/>
              <a:t> x)</a:t>
            </a:r>
          </a:p>
          <a:p>
            <a:pPr marL="0" indent="0">
              <a:buNone/>
            </a:pPr>
            <a:r>
              <a:rPr lang="en-US" dirty="0"/>
              <a:t># returns True because a sequence with the value "banana" is in the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["apple", "banana"]</a:t>
            </a:r>
          </a:p>
          <a:p>
            <a:pPr marL="0" indent="0">
              <a:buNone/>
            </a:pPr>
            <a:r>
              <a:rPr lang="en-US" dirty="0"/>
              <a:t>print("pineapple" </a:t>
            </a:r>
            <a:r>
              <a:rPr lang="en-US" dirty="0">
                <a:solidFill>
                  <a:srgbClr val="FF0000"/>
                </a:solidFill>
              </a:rPr>
              <a:t>not in </a:t>
            </a:r>
            <a:r>
              <a:rPr lang="en-US" dirty="0"/>
              <a:t>x)</a:t>
            </a:r>
          </a:p>
          <a:p>
            <a:pPr marL="0" indent="0">
              <a:buNone/>
            </a:pPr>
            <a:r>
              <a:rPr lang="en-US" dirty="0"/>
              <a:t># returns True because a sequence with the value "pineapple" is not in the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78067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Identity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912" y="1338773"/>
            <a:ext cx="11532359" cy="51997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x = ["apple", "banana"]</a:t>
            </a:r>
          </a:p>
          <a:p>
            <a:pPr marL="0" indent="0">
              <a:buNone/>
            </a:pPr>
            <a:r>
              <a:rPr lang="en-US" dirty="0"/>
              <a:t>y = ["apple", "banana"]</a:t>
            </a:r>
          </a:p>
          <a:p>
            <a:pPr marL="0" indent="0">
              <a:buNone/>
            </a:pPr>
            <a:r>
              <a:rPr lang="en-US" dirty="0"/>
              <a:t>z = x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print(x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/>
              <a:t> z)</a:t>
            </a:r>
          </a:p>
          <a:p>
            <a:pPr marL="0" indent="0">
              <a:buNone/>
            </a:pPr>
            <a:r>
              <a:rPr lang="en-US" dirty="0"/>
              <a:t># returns </a:t>
            </a:r>
            <a:r>
              <a:rPr lang="en-US" b="1" dirty="0"/>
              <a:t>True</a:t>
            </a:r>
            <a:r>
              <a:rPr lang="en-US" dirty="0"/>
              <a:t> because z is the </a:t>
            </a:r>
            <a:r>
              <a:rPr lang="en-US" b="1" dirty="0"/>
              <a:t>same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as 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print(x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/>
              <a:t> y)</a:t>
            </a:r>
          </a:p>
          <a:p>
            <a:pPr marL="0" indent="0">
              <a:buNone/>
            </a:pPr>
            <a:r>
              <a:rPr lang="en-US" dirty="0"/>
              <a:t># returns False because x is not the </a:t>
            </a:r>
            <a:r>
              <a:rPr lang="en-US" b="1" dirty="0"/>
              <a:t>same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as y, even if they have the </a:t>
            </a:r>
            <a:r>
              <a:rPr lang="en-US" b="1" dirty="0"/>
              <a:t>same content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866" y="5608948"/>
            <a:ext cx="4889891" cy="766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7060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265" y="984771"/>
            <a:ext cx="8596668" cy="4117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x = ["apple", "banana"]</a:t>
            </a:r>
          </a:p>
          <a:p>
            <a:pPr marL="0" indent="0">
              <a:buNone/>
            </a:pPr>
            <a:r>
              <a:rPr lang="en-US" sz="2000" dirty="0"/>
              <a:t>z = x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print(x </a:t>
            </a:r>
            <a:r>
              <a:rPr lang="en-US" sz="2000" dirty="0">
                <a:solidFill>
                  <a:srgbClr val="FF0000"/>
                </a:solidFill>
              </a:rPr>
              <a:t>is not </a:t>
            </a:r>
            <a:r>
              <a:rPr lang="en-US" sz="2000" dirty="0"/>
              <a:t>z)</a:t>
            </a:r>
          </a:p>
          <a:p>
            <a:pPr marL="0" indent="0">
              <a:buNone/>
            </a:pPr>
            <a:r>
              <a:rPr lang="en-US" sz="2000" dirty="0"/>
              <a:t># returns False because z is the same object as x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199647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19E1-21B8-F110-EAEC-C85BE4E0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DE10-F536-1A57-D9DD-EB49E056B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6493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Conditional Statements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2197"/>
            <a:ext cx="8596668" cy="4499165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Python supports the usual logical conditions from mathematics:</a:t>
            </a:r>
          </a:p>
          <a:p>
            <a:pPr marL="0" indent="0">
              <a:buNone/>
            </a:pPr>
            <a:r>
              <a:rPr lang="en-US" dirty="0"/>
              <a:t>Equals: a == b</a:t>
            </a:r>
          </a:p>
          <a:p>
            <a:pPr marL="0" indent="0">
              <a:buNone/>
            </a:pPr>
            <a:r>
              <a:rPr lang="en-US" dirty="0"/>
              <a:t>Not Equals: a != b</a:t>
            </a:r>
          </a:p>
          <a:p>
            <a:pPr marL="0" indent="0">
              <a:buNone/>
            </a:pPr>
            <a:r>
              <a:rPr lang="en-US" dirty="0"/>
              <a:t>Less than: a &lt; b</a:t>
            </a:r>
          </a:p>
          <a:p>
            <a:pPr marL="0" indent="0">
              <a:buNone/>
            </a:pPr>
            <a:r>
              <a:rPr lang="en-US" dirty="0"/>
              <a:t>Less than or equal to: a &lt;= b</a:t>
            </a:r>
          </a:p>
          <a:p>
            <a:pPr marL="0" indent="0">
              <a:buNone/>
            </a:pPr>
            <a:r>
              <a:rPr lang="en-US" dirty="0"/>
              <a:t>Greater than: a &gt; b</a:t>
            </a:r>
          </a:p>
          <a:p>
            <a:pPr marL="0" indent="0">
              <a:buNone/>
            </a:pPr>
            <a:r>
              <a:rPr lang="en-US" dirty="0"/>
              <a:t>Greater than or equal to: a &gt;=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41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35" y="1737508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= 33</a:t>
            </a:r>
          </a:p>
          <a:p>
            <a:pPr marL="0" indent="0">
              <a:buNone/>
            </a:pPr>
            <a:r>
              <a:rPr lang="en-US" dirty="0"/>
              <a:t>b = 200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b &gt; a:</a:t>
            </a:r>
          </a:p>
          <a:p>
            <a:pPr marL="0" indent="0">
              <a:buNone/>
            </a:pPr>
            <a:r>
              <a:rPr lang="en-US" dirty="0"/>
              <a:t>       print("b is greater than a")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b is greater than a</a:t>
            </a:r>
          </a:p>
        </p:txBody>
      </p:sp>
    </p:spTree>
    <p:extLst>
      <p:ext uri="{BB962C8B-B14F-4D97-AF65-F5344CB8AC3E}">
        <p14:creationId xmlns:p14="http://schemas.microsoft.com/office/powerpoint/2010/main" val="3302678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64" y="350293"/>
            <a:ext cx="9203645" cy="1320800"/>
          </a:xfrm>
        </p:spPr>
        <p:txBody>
          <a:bodyPr>
            <a:normAutofit fontScale="90000"/>
          </a:bodyPr>
          <a:lstStyle/>
          <a:p>
            <a:r>
              <a:rPr lang="en-US" sz="4000" dirty="0" err="1"/>
              <a:t>elif</a:t>
            </a:r>
            <a:r>
              <a:rPr lang="en-US" sz="4000" dirty="0"/>
              <a:t>  </a:t>
            </a:r>
            <a:br>
              <a:rPr lang="en-US" sz="4000" dirty="0"/>
            </a:br>
            <a:r>
              <a:rPr lang="en-US" sz="4000" dirty="0"/>
              <a:t>  </a:t>
            </a:r>
            <a:r>
              <a:rPr lang="en-US" sz="2000" dirty="0" err="1"/>
              <a:t>elif</a:t>
            </a:r>
            <a:r>
              <a:rPr lang="en-US" sz="2000" dirty="0"/>
              <a:t> statement allows you to check multiple expressions for TRUE and execute a block of code as soon as one of the conditions evaluates to TRUE.</a:t>
            </a:r>
            <a:br>
              <a:rPr lang="en-US" sz="1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761" y="2000735"/>
            <a:ext cx="8596668" cy="46675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Syntax</a:t>
            </a:r>
          </a:p>
          <a:p>
            <a:pPr marL="0" indent="0">
              <a:buNone/>
            </a:pPr>
            <a:r>
              <a:rPr lang="en-US" b="1" dirty="0"/>
              <a:t>if </a:t>
            </a:r>
            <a:r>
              <a:rPr lang="en-US" dirty="0"/>
              <a:t>expression1:</a:t>
            </a:r>
          </a:p>
          <a:p>
            <a:pPr marL="0" indent="0">
              <a:buNone/>
            </a:pPr>
            <a:r>
              <a:rPr lang="en-US" dirty="0"/>
              <a:t>          statement(s)</a:t>
            </a:r>
          </a:p>
          <a:p>
            <a:pPr marL="0" indent="0">
              <a:buNone/>
            </a:pPr>
            <a:r>
              <a:rPr lang="en-US" b="1" dirty="0" err="1"/>
              <a:t>elif</a:t>
            </a:r>
            <a:r>
              <a:rPr lang="en-US" dirty="0"/>
              <a:t> expression2:</a:t>
            </a:r>
          </a:p>
          <a:p>
            <a:pPr marL="0" indent="0">
              <a:buNone/>
            </a:pPr>
            <a:r>
              <a:rPr lang="en-US" dirty="0"/>
              <a:t>         statement(s)</a:t>
            </a:r>
          </a:p>
          <a:p>
            <a:pPr marL="0" indent="0">
              <a:buNone/>
            </a:pPr>
            <a:r>
              <a:rPr lang="en-US" b="1" dirty="0" err="1"/>
              <a:t>elif</a:t>
            </a:r>
            <a:r>
              <a:rPr lang="en-US" dirty="0"/>
              <a:t> expression3:</a:t>
            </a:r>
          </a:p>
          <a:p>
            <a:pPr marL="0" indent="0">
              <a:buNone/>
            </a:pPr>
            <a:r>
              <a:rPr lang="en-US" dirty="0"/>
              <a:t>        statement(s)</a:t>
            </a:r>
          </a:p>
          <a:p>
            <a:pPr marL="0" indent="0">
              <a:buNone/>
            </a:pPr>
            <a:r>
              <a:rPr lang="en-US" b="1" dirty="0"/>
              <a:t>else:</a:t>
            </a:r>
          </a:p>
          <a:p>
            <a:pPr marL="0" indent="0">
              <a:buNone/>
            </a:pPr>
            <a:r>
              <a:rPr lang="en-US" dirty="0"/>
              <a:t>         statement(s)</a:t>
            </a:r>
          </a:p>
        </p:txBody>
      </p:sp>
    </p:spTree>
    <p:extLst>
      <p:ext uri="{BB962C8B-B14F-4D97-AF65-F5344CB8AC3E}">
        <p14:creationId xmlns:p14="http://schemas.microsoft.com/office/powerpoint/2010/main" val="82389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277" y="1819395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= 200</a:t>
            </a:r>
          </a:p>
          <a:p>
            <a:pPr marL="0" indent="0">
              <a:buNone/>
            </a:pPr>
            <a:r>
              <a:rPr lang="en-US" sz="2000" dirty="0"/>
              <a:t>b = 33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if b &gt; a:</a:t>
            </a:r>
          </a:p>
          <a:p>
            <a:pPr marL="0" indent="0">
              <a:buNone/>
            </a:pPr>
            <a:r>
              <a:rPr lang="en-US" sz="2000" dirty="0"/>
              <a:t>  print("b is greater than a")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sz="2000" dirty="0"/>
              <a:t>  print("b is not greater than a")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B is not greater than a</a:t>
            </a:r>
          </a:p>
        </p:txBody>
      </p:sp>
    </p:spTree>
    <p:extLst>
      <p:ext uri="{BB962C8B-B14F-4D97-AF65-F5344CB8AC3E}">
        <p14:creationId xmlns:p14="http://schemas.microsoft.com/office/powerpoint/2010/main" val="2138918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841" y="547348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/>
              <a:t>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683" y="1828801"/>
            <a:ext cx="9157647" cy="4658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= 200</a:t>
            </a:r>
          </a:p>
          <a:p>
            <a:pPr marL="0" indent="0">
              <a:buNone/>
            </a:pPr>
            <a:r>
              <a:rPr lang="en-US" dirty="0"/>
              <a:t>b = 20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b &gt; a:</a:t>
            </a:r>
          </a:p>
          <a:p>
            <a:pPr marL="0" indent="0">
              <a:buNone/>
            </a:pPr>
            <a:r>
              <a:rPr lang="en-US" dirty="0"/>
              <a:t>  print("b is greater than a")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elif</a:t>
            </a:r>
            <a:r>
              <a:rPr lang="en-US" dirty="0">
                <a:solidFill>
                  <a:srgbClr val="FF0000"/>
                </a:solidFill>
              </a:rPr>
              <a:t> a == b:</a:t>
            </a:r>
          </a:p>
          <a:p>
            <a:pPr marL="0" indent="0">
              <a:buNone/>
            </a:pPr>
            <a:r>
              <a:rPr lang="en-US" dirty="0"/>
              <a:t>  print("a and b are equal")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/>
              <a:t>  print("a is greater than b")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a is greater than b</a:t>
            </a:r>
          </a:p>
        </p:txBody>
      </p:sp>
    </p:spTree>
    <p:extLst>
      <p:ext uri="{BB962C8B-B14F-4D97-AF65-F5344CB8AC3E}">
        <p14:creationId xmlns:p14="http://schemas.microsoft.com/office/powerpoint/2010/main" val="13701560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55093"/>
            <a:ext cx="8596668" cy="5386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2" y="555294"/>
            <a:ext cx="7558415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2" y="5098679"/>
            <a:ext cx="6741781" cy="65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7943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208" y="309349"/>
            <a:ext cx="8596668" cy="1320800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206" y="1337482"/>
            <a:ext cx="8898340" cy="5281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syntax of the nested if...</a:t>
            </a:r>
            <a:r>
              <a:rPr lang="en-US" dirty="0" err="1"/>
              <a:t>elif</a:t>
            </a:r>
            <a:r>
              <a:rPr lang="en-US" dirty="0"/>
              <a:t>...else construct may be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expression1: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statement(s)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</a:t>
            </a:r>
            <a:r>
              <a:rPr lang="en-US" b="1" dirty="0">
                <a:solidFill>
                  <a:srgbClr val="FF0000"/>
                </a:solidFill>
              </a:rPr>
              <a:t> if </a:t>
            </a:r>
            <a:r>
              <a:rPr lang="en-US" dirty="0">
                <a:solidFill>
                  <a:srgbClr val="FF0000"/>
                </a:solidFill>
              </a:rPr>
              <a:t>expression2: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 statement(s)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elif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expression3: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statement(s)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else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statement(s)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else: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statement(s)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18" y="171450"/>
            <a:ext cx="8596668" cy="8763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nested IF statements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047" y="1226408"/>
            <a:ext cx="9704875" cy="49889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100" dirty="0" err="1"/>
              <a:t>var</a:t>
            </a:r>
            <a:r>
              <a:rPr lang="en-US" sz="3100" dirty="0"/>
              <a:t> = 100</a:t>
            </a:r>
          </a:p>
          <a:p>
            <a:pPr marL="0" indent="0">
              <a:buNone/>
            </a:pPr>
            <a:r>
              <a:rPr lang="en-US" sz="3100" dirty="0"/>
              <a:t>if </a:t>
            </a:r>
            <a:r>
              <a:rPr lang="en-US" sz="3100" dirty="0" err="1"/>
              <a:t>var</a:t>
            </a:r>
            <a:r>
              <a:rPr lang="en-US" sz="3100" dirty="0"/>
              <a:t> &lt; 200:</a:t>
            </a:r>
          </a:p>
          <a:p>
            <a:pPr marL="0" indent="0">
              <a:buNone/>
            </a:pPr>
            <a:r>
              <a:rPr lang="en-US" sz="3100" dirty="0"/>
              <a:t>   print ("Expression value is less than 200")</a:t>
            </a:r>
          </a:p>
          <a:p>
            <a:pPr marL="0" indent="0">
              <a:buNone/>
            </a:pPr>
            <a:r>
              <a:rPr lang="en-US" sz="3100" dirty="0"/>
              <a:t>   if </a:t>
            </a:r>
            <a:r>
              <a:rPr lang="en-US" sz="3100" dirty="0" err="1"/>
              <a:t>var</a:t>
            </a:r>
            <a:r>
              <a:rPr lang="en-US" sz="3100" dirty="0"/>
              <a:t> == 150:</a:t>
            </a:r>
          </a:p>
          <a:p>
            <a:pPr marL="0" indent="0">
              <a:buNone/>
            </a:pPr>
            <a:r>
              <a:rPr lang="en-US" sz="3100" dirty="0"/>
              <a:t>      print ("Which is 150")</a:t>
            </a:r>
          </a:p>
          <a:p>
            <a:pPr marL="0" indent="0">
              <a:buNone/>
            </a:pPr>
            <a:r>
              <a:rPr lang="en-US" sz="3100" dirty="0"/>
              <a:t>   </a:t>
            </a:r>
            <a:r>
              <a:rPr lang="en-US" sz="3100" dirty="0" err="1"/>
              <a:t>elif</a:t>
            </a:r>
            <a:r>
              <a:rPr lang="en-US" sz="3100" dirty="0"/>
              <a:t> </a:t>
            </a:r>
            <a:r>
              <a:rPr lang="en-US" sz="3100" dirty="0" err="1"/>
              <a:t>var</a:t>
            </a:r>
            <a:r>
              <a:rPr lang="en-US" sz="3100" dirty="0"/>
              <a:t> == 100:</a:t>
            </a:r>
          </a:p>
          <a:p>
            <a:pPr marL="0" indent="0">
              <a:buNone/>
            </a:pPr>
            <a:r>
              <a:rPr lang="en-US" sz="3100" dirty="0"/>
              <a:t>      print ("Which is 100")</a:t>
            </a:r>
          </a:p>
          <a:p>
            <a:pPr marL="0" indent="0">
              <a:buNone/>
            </a:pPr>
            <a:r>
              <a:rPr lang="en-US" sz="3100" dirty="0"/>
              <a:t>   </a:t>
            </a:r>
            <a:r>
              <a:rPr lang="en-US" sz="3100" dirty="0" err="1"/>
              <a:t>elif</a:t>
            </a:r>
            <a:r>
              <a:rPr lang="en-US" sz="3100" dirty="0"/>
              <a:t> </a:t>
            </a:r>
            <a:r>
              <a:rPr lang="en-US" sz="3100" dirty="0" err="1"/>
              <a:t>var</a:t>
            </a:r>
            <a:r>
              <a:rPr lang="en-US" sz="3100" dirty="0"/>
              <a:t> == 50:</a:t>
            </a:r>
          </a:p>
          <a:p>
            <a:pPr marL="0" indent="0">
              <a:buNone/>
            </a:pPr>
            <a:r>
              <a:rPr lang="en-US" sz="3100" dirty="0"/>
              <a:t>      print ("Which is 50")</a:t>
            </a:r>
          </a:p>
          <a:p>
            <a:pPr marL="0" indent="0">
              <a:buNone/>
            </a:pPr>
            <a:r>
              <a:rPr lang="en-US" sz="3100" dirty="0"/>
              <a:t>   </a:t>
            </a:r>
            <a:r>
              <a:rPr lang="en-US" sz="3100" dirty="0" err="1"/>
              <a:t>elif</a:t>
            </a:r>
            <a:r>
              <a:rPr lang="en-US" sz="3100" dirty="0"/>
              <a:t> </a:t>
            </a:r>
            <a:r>
              <a:rPr lang="en-US" sz="3100" dirty="0" err="1"/>
              <a:t>var</a:t>
            </a:r>
            <a:r>
              <a:rPr lang="en-US" sz="3100" dirty="0"/>
              <a:t> &lt; 50:</a:t>
            </a:r>
          </a:p>
          <a:p>
            <a:pPr marL="0" indent="0">
              <a:buNone/>
            </a:pPr>
            <a:r>
              <a:rPr lang="en-US" sz="3100" dirty="0"/>
              <a:t>      print ("Expression value is less than 50")</a:t>
            </a:r>
          </a:p>
          <a:p>
            <a:pPr marL="0" indent="0">
              <a:buNone/>
            </a:pPr>
            <a:r>
              <a:rPr lang="en-US" sz="3100" dirty="0"/>
              <a:t>else:</a:t>
            </a:r>
          </a:p>
          <a:p>
            <a:pPr marL="0" indent="0">
              <a:buNone/>
            </a:pPr>
            <a:r>
              <a:rPr lang="en-US" sz="3100" dirty="0"/>
              <a:t>   print ("Could not find true expression")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print ("Good bye!")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2520" y="5864100"/>
            <a:ext cx="5819480" cy="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377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61" y="354356"/>
            <a:ext cx="6543675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102" y="5060275"/>
            <a:ext cx="7710617" cy="1005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4114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707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9929F-25F0-B805-F503-0DD80B7A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42" y="1930400"/>
            <a:ext cx="9433692" cy="27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880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dirty="0"/>
              <a:t> while expression:</a:t>
            </a:r>
          </a:p>
          <a:p>
            <a:pPr marL="0" indent="0">
              <a:buNone/>
            </a:pPr>
            <a:r>
              <a:rPr lang="en-US" dirty="0"/>
              <a:t>		statement(s)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80" y="3212058"/>
            <a:ext cx="4622266" cy="352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69526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count = 0</a:t>
            </a:r>
          </a:p>
          <a:p>
            <a:pPr marL="0" indent="0">
              <a:buNone/>
            </a:pPr>
            <a:r>
              <a:rPr lang="en-US" dirty="0"/>
              <a:t>while (count &lt; 9):</a:t>
            </a:r>
          </a:p>
          <a:p>
            <a:pPr marL="0" indent="0">
              <a:buNone/>
            </a:pPr>
            <a:r>
              <a:rPr lang="en-US" dirty="0"/>
              <a:t>      print ('The count is:', count)</a:t>
            </a:r>
          </a:p>
          <a:p>
            <a:pPr marL="0" indent="0">
              <a:buNone/>
            </a:pPr>
            <a:r>
              <a:rPr lang="en-US" dirty="0"/>
              <a:t>      count = count + 1</a:t>
            </a:r>
          </a:p>
          <a:p>
            <a:pPr marL="0" indent="0">
              <a:buNone/>
            </a:pPr>
            <a:r>
              <a:rPr lang="en-US" dirty="0"/>
              <a:t>print ("Good bye!")</a:t>
            </a:r>
          </a:p>
          <a:p>
            <a:endParaRPr 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1" y="4575764"/>
            <a:ext cx="4504322" cy="220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81567" y="2479249"/>
            <a:ext cx="36010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/>
              <a:t>i = 1</a:t>
            </a:r>
          </a:p>
          <a:p>
            <a:r>
              <a:rPr lang="nn-NO" dirty="0"/>
              <a:t>while i &lt; 6:</a:t>
            </a:r>
          </a:p>
          <a:p>
            <a:r>
              <a:rPr lang="nn-NO" dirty="0"/>
              <a:t>  print(i)</a:t>
            </a:r>
          </a:p>
          <a:p>
            <a:r>
              <a:rPr lang="nn-NO" dirty="0"/>
              <a:t>  i +=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949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29560"/>
            <a:ext cx="8596668" cy="48548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count = 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while count &lt; 7:</a:t>
            </a:r>
          </a:p>
          <a:p>
            <a:pPr marL="0" indent="0">
              <a:buNone/>
            </a:pPr>
            <a:r>
              <a:rPr lang="en-US" dirty="0"/>
              <a:t>      print (count, " is less than 7")</a:t>
            </a:r>
          </a:p>
          <a:p>
            <a:pPr marL="0" indent="0">
              <a:buNone/>
            </a:pPr>
            <a:r>
              <a:rPr lang="en-US" dirty="0"/>
              <a:t>      count = count + 1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/>
              <a:t>      print (“Loop End")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9" y="4362450"/>
            <a:ext cx="84391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07863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799" y="1653676"/>
            <a:ext cx="8596668" cy="44991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for statement in Python has the ability to iterate over the items of any sequence, </a:t>
            </a:r>
            <a:r>
              <a:rPr lang="en-US" dirty="0" err="1"/>
              <a:t>suchas</a:t>
            </a:r>
            <a:r>
              <a:rPr lang="en-US" dirty="0"/>
              <a:t> a list or a string.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iterating_var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 sequence: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	statements(s)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574" y="3903259"/>
            <a:ext cx="4044935" cy="2579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3388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95" y="1665027"/>
            <a:ext cx="9771796" cy="43763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built-in function range() is the right function to iterate over a sequence of numbers. It generates an iterator of arithmetic progressions.</a:t>
            </a:r>
          </a:p>
          <a:p>
            <a:pPr marL="0" indent="0">
              <a:buNone/>
            </a:pPr>
            <a:r>
              <a:rPr lang="en-US" dirty="0"/>
              <a:t>&gt;&gt;&gt; range(5)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range(0, 5)</a:t>
            </a:r>
          </a:p>
          <a:p>
            <a:pPr marL="0" indent="0">
              <a:buNone/>
            </a:pPr>
            <a:r>
              <a:rPr lang="en-US" dirty="0"/>
              <a:t>&gt;&gt;&gt; list(range(5))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[0, 1, 2, 3, 4]</a:t>
            </a:r>
          </a:p>
          <a:p>
            <a:pPr marL="0" indent="0">
              <a:buNone/>
            </a:pPr>
            <a:r>
              <a:rPr lang="en-US" b="1" dirty="0"/>
              <a:t>range() generates an iterator to progress integers starting with 0 </a:t>
            </a:r>
            <a:r>
              <a:rPr lang="en-US" b="1" dirty="0" err="1"/>
              <a:t>upto</a:t>
            </a:r>
            <a:r>
              <a:rPr lang="en-US" b="1" dirty="0"/>
              <a:t> n-1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for </a:t>
            </a:r>
            <a:r>
              <a:rPr lang="en-US" dirty="0" err="1">
                <a:solidFill>
                  <a:srgbClr val="C00000"/>
                </a:solidFill>
              </a:rPr>
              <a:t>var</a:t>
            </a:r>
            <a:r>
              <a:rPr lang="en-US" dirty="0">
                <a:solidFill>
                  <a:srgbClr val="C00000"/>
                </a:solidFill>
              </a:rPr>
              <a:t> in list(range(5)):</a:t>
            </a:r>
          </a:p>
          <a:p>
            <a:pPr marL="0" indent="0">
              <a:buNone/>
            </a:pPr>
            <a:r>
              <a:rPr lang="en-US" dirty="0"/>
              <a:t>        print (</a:t>
            </a:r>
            <a:r>
              <a:rPr lang="en-US" dirty="0" err="1"/>
              <a:t>var</a:t>
            </a:r>
            <a:r>
              <a:rPr lang="en-US" dirty="0"/>
              <a:t>)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790" y="5704276"/>
            <a:ext cx="5188139" cy="105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24128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094483" cy="54548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00916" y="19647"/>
            <a:ext cx="5533697" cy="3436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00916" y="3548913"/>
            <a:ext cx="5533697" cy="2905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8925" y="5405649"/>
            <a:ext cx="5854554" cy="132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721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78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Control Statements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19" y="2347275"/>
            <a:ext cx="9083856" cy="295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54448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/ Continue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1.The break statement is used for </a:t>
            </a:r>
            <a:r>
              <a:rPr lang="en-IN" dirty="0"/>
              <a:t>Stops the loop </a:t>
            </a:r>
            <a:r>
              <a:rPr lang="en-IN" b="1" dirty="0"/>
              <a:t>immediately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</a:rPr>
              <a:t>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DDF11-61CE-C1F2-B309-6878FAF43CE2}"/>
              </a:ext>
            </a:extLst>
          </p:cNvPr>
          <p:cNvSpPr txBox="1"/>
          <p:nvPr/>
        </p:nvSpPr>
        <p:spPr>
          <a:xfrm>
            <a:off x="677334" y="3595445"/>
            <a:ext cx="61038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</a:t>
            </a:r>
            <a:r>
              <a:rPr lang="en-US" sz="2000" b="1" dirty="0">
                <a:latin typeface="Courier New" panose="02070309020205020404" pitchFamily="49" charset="0"/>
              </a:rPr>
              <a:t>continue</a:t>
            </a:r>
            <a:r>
              <a:rPr lang="en-US" b="1" dirty="0"/>
              <a:t> Statement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     Skips current iteration and moves to next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ABF17-A616-F7DC-977D-786248B2DF3A}"/>
              </a:ext>
            </a:extLst>
          </p:cNvPr>
          <p:cNvSpPr txBox="1"/>
          <p:nvPr/>
        </p:nvSpPr>
        <p:spPr>
          <a:xfrm>
            <a:off x="611346" y="4927601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pass</a:t>
            </a:r>
            <a:r>
              <a:rPr lang="en-IN" dirty="0"/>
              <a:t>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F2B59-525D-7672-5242-70E07004FACD}"/>
              </a:ext>
            </a:extLst>
          </p:cNvPr>
          <p:cNvSpPr txBox="1"/>
          <p:nvPr/>
        </p:nvSpPr>
        <p:spPr>
          <a:xfrm>
            <a:off x="1100579" y="5296933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a. Does nothing (placeholder)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DBE08-D976-16F6-3084-B32359385CDA}"/>
              </a:ext>
            </a:extLst>
          </p:cNvPr>
          <p:cNvSpPr txBox="1"/>
          <p:nvPr/>
        </p:nvSpPr>
        <p:spPr>
          <a:xfrm>
            <a:off x="5790607" y="5324879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b. Purpose of </a:t>
            </a:r>
            <a:r>
              <a:rPr lang="en-US" b="1" dirty="0">
                <a:latin typeface="Courier New" panose="02070309020205020404" pitchFamily="49" charset="0"/>
              </a:rPr>
              <a:t>pass</a:t>
            </a:r>
            <a:r>
              <a:rPr lang="en-US" b="1" dirty="0"/>
              <a:t> in Python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pass</a:t>
            </a:r>
            <a:r>
              <a:rPr lang="en-US" dirty="0"/>
              <a:t> is a </a:t>
            </a:r>
            <a:r>
              <a:rPr lang="en-US" b="1" dirty="0"/>
              <a:t>null (empty) statement</a:t>
            </a:r>
            <a:r>
              <a:rPr lang="en-US" dirty="0"/>
              <a:t> — it </a:t>
            </a:r>
            <a:r>
              <a:rPr lang="en-US" b="1" dirty="0"/>
              <a:t>does nothing</a:t>
            </a:r>
            <a:r>
              <a:rPr lang="en-US" dirty="0"/>
              <a:t>, but it is used to </a:t>
            </a:r>
            <a:r>
              <a:rPr lang="en-US" b="1" dirty="0"/>
              <a:t>avoid syntax errors</a:t>
            </a:r>
            <a:r>
              <a:rPr lang="en-US" dirty="0"/>
              <a:t> when a statement is required.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17C9FC-B7F3-B511-8F79-CCDEE2883DAD}"/>
              </a:ext>
            </a:extLst>
          </p:cNvPr>
          <p:cNvSpPr txBox="1"/>
          <p:nvPr/>
        </p:nvSpPr>
        <p:spPr>
          <a:xfrm>
            <a:off x="818736" y="5997497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placeholder for future code</a:t>
            </a:r>
          </a:p>
          <a:p>
            <a:pPr>
              <a:buNone/>
            </a:pPr>
            <a:r>
              <a:rPr lang="en-US" dirty="0"/>
              <a:t>     Used when you </a:t>
            </a:r>
            <a:r>
              <a:rPr lang="en-US" dirty="0">
                <a:solidFill>
                  <a:srgbClr val="FF0000"/>
                </a:solidFill>
              </a:rPr>
              <a:t>plan to write code later</a:t>
            </a:r>
          </a:p>
        </p:txBody>
      </p:sp>
    </p:spTree>
    <p:extLst>
      <p:ext uri="{BB962C8B-B14F-4D97-AF65-F5344CB8AC3E}">
        <p14:creationId xmlns:p14="http://schemas.microsoft.com/office/powerpoint/2010/main" val="39670597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7401-1BCB-5D1B-EA63-12FFDAC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1.break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97644-071C-5FE5-8966-0360968E199F}"/>
              </a:ext>
            </a:extLst>
          </p:cNvPr>
          <p:cNvSpPr txBox="1"/>
          <p:nvPr/>
        </p:nvSpPr>
        <p:spPr>
          <a:xfrm>
            <a:off x="1147714" y="1577427"/>
            <a:ext cx="61038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for </a:t>
            </a:r>
            <a:r>
              <a:rPr lang="en-IN" sz="2400" dirty="0" err="1"/>
              <a:t>i</a:t>
            </a:r>
            <a:r>
              <a:rPr lang="en-IN" sz="2400" dirty="0"/>
              <a:t> in range(1, 6):</a:t>
            </a:r>
          </a:p>
          <a:p>
            <a:r>
              <a:rPr lang="en-IN" sz="2400" dirty="0"/>
              <a:t>    if </a:t>
            </a:r>
            <a:r>
              <a:rPr lang="en-IN" sz="2400" dirty="0" err="1"/>
              <a:t>i</a:t>
            </a:r>
            <a:r>
              <a:rPr lang="en-IN" sz="2400" dirty="0"/>
              <a:t> == 3:</a:t>
            </a:r>
          </a:p>
          <a:p>
            <a:r>
              <a:rPr lang="en-IN" sz="2400" dirty="0"/>
              <a:t>        break</a:t>
            </a:r>
          </a:p>
          <a:p>
            <a:r>
              <a:rPr lang="en-IN" sz="2400" dirty="0"/>
              <a:t>    print(</a:t>
            </a:r>
            <a:r>
              <a:rPr lang="en-IN" sz="2400" dirty="0" err="1"/>
              <a:t>i</a:t>
            </a:r>
            <a:r>
              <a:rPr lang="en-IN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04AFD-AAF6-701E-8B4F-780ADBEF9970}"/>
              </a:ext>
            </a:extLst>
          </p:cNvPr>
          <p:cNvSpPr txBox="1"/>
          <p:nvPr/>
        </p:nvSpPr>
        <p:spPr>
          <a:xfrm>
            <a:off x="5644299" y="1762092"/>
            <a:ext cx="6103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2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When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3</a:t>
            </a:r>
            <a:r>
              <a:rPr lang="en-US" dirty="0"/>
              <a:t>, loop </a:t>
            </a:r>
            <a:r>
              <a:rPr lang="en-US" b="1" dirty="0"/>
              <a:t>stops completely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75C0-529C-ECEC-6EB1-9F29F6FB3BB6}"/>
              </a:ext>
            </a:extLst>
          </p:cNvPr>
          <p:cNvSpPr txBox="1"/>
          <p:nvPr/>
        </p:nvSpPr>
        <p:spPr>
          <a:xfrm>
            <a:off x="789495" y="3744154"/>
            <a:ext cx="610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</a:t>
            </a:r>
            <a:r>
              <a:rPr lang="en-IN" sz="2000" b="1" dirty="0">
                <a:latin typeface="Courier New" panose="02070309020205020404" pitchFamily="49" charset="0"/>
              </a:rPr>
              <a:t>continue</a:t>
            </a:r>
            <a:r>
              <a:rPr lang="en-IN" dirty="0"/>
              <a:t> </a:t>
            </a:r>
            <a:r>
              <a:rPr lang="en-IN" sz="2000" dirty="0"/>
              <a:t>Statement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50295E-FE72-B2E3-5425-7C83573D8DD4}"/>
              </a:ext>
            </a:extLst>
          </p:cNvPr>
          <p:cNvSpPr txBox="1"/>
          <p:nvPr/>
        </p:nvSpPr>
        <p:spPr>
          <a:xfrm>
            <a:off x="1449372" y="4575150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in range(1, 6):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== 3: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continue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E437D-E0EC-099C-1E3B-23AC976DAA70}"/>
              </a:ext>
            </a:extLst>
          </p:cNvPr>
          <p:cNvSpPr txBox="1"/>
          <p:nvPr/>
        </p:nvSpPr>
        <p:spPr>
          <a:xfrm>
            <a:off x="5823408" y="4298151"/>
            <a:ext cx="61038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4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5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When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3</a:t>
            </a:r>
            <a:r>
              <a:rPr lang="en-US" dirty="0"/>
              <a:t>, it is </a:t>
            </a:r>
            <a:r>
              <a:rPr lang="en-US" b="1" dirty="0"/>
              <a:t>skipped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138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171F-98DD-38BE-0794-ED16B5FB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27" y="46010"/>
            <a:ext cx="8596668" cy="717561"/>
          </a:xfrm>
        </p:spPr>
        <p:txBody>
          <a:bodyPr/>
          <a:lstStyle/>
          <a:p>
            <a:r>
              <a:rPr lang="en-IN" dirty="0"/>
              <a:t>Pass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AE713-C7E7-DFEF-A4F2-938B09F8F0AB}"/>
              </a:ext>
            </a:extLst>
          </p:cNvPr>
          <p:cNvSpPr txBox="1"/>
          <p:nvPr/>
        </p:nvSpPr>
        <p:spPr>
          <a:xfrm>
            <a:off x="857838" y="1789793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 4):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pass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print("Loop completed")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58A498-77D1-6EED-0160-F2EC5DA93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8" y="4983929"/>
            <a:ext cx="2255167" cy="1645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712D67-A573-6F72-E264-FBF12289D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843" y="1789793"/>
            <a:ext cx="3642586" cy="1059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A31A1D-BFD0-3B64-1436-0818C008B5D5}"/>
              </a:ext>
            </a:extLst>
          </p:cNvPr>
          <p:cNvSpPr txBox="1"/>
          <p:nvPr/>
        </p:nvSpPr>
        <p:spPr>
          <a:xfrm>
            <a:off x="1044019" y="3551153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 4):</a:t>
            </a:r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print("Loop completed")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3819E-CED6-9648-3098-3A9FF2C73339}"/>
              </a:ext>
            </a:extLst>
          </p:cNvPr>
          <p:cNvSpPr txBox="1"/>
          <p:nvPr/>
        </p:nvSpPr>
        <p:spPr>
          <a:xfrm>
            <a:off x="7044178" y="3272498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Empty Condition Block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4CE5F-02F3-7D77-91A2-D9BA4AD3D065}"/>
              </a:ext>
            </a:extLst>
          </p:cNvPr>
          <p:cNvSpPr txBox="1"/>
          <p:nvPr/>
        </p:nvSpPr>
        <p:spPr>
          <a:xfrm>
            <a:off x="7044178" y="3641830"/>
            <a:ext cx="4678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 = 10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x &gt; 5: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pass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    print("Less than 5")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print("Done")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5DFDC7-EC8B-6971-6752-38BD84EEB3DE}"/>
              </a:ext>
            </a:extLst>
          </p:cNvPr>
          <p:cNvSpPr txBox="1"/>
          <p:nvPr/>
        </p:nvSpPr>
        <p:spPr>
          <a:xfrm>
            <a:off x="7668705" y="5934670"/>
            <a:ext cx="6627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Done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 block is empty but </a:t>
            </a:r>
            <a:r>
              <a:rPr lang="en-US" b="1" dirty="0"/>
              <a:t>no error occurs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2E6964-67C1-F85C-4432-F8FD392E3948}"/>
              </a:ext>
            </a:extLst>
          </p:cNvPr>
          <p:cNvSpPr txBox="1"/>
          <p:nvPr/>
        </p:nvSpPr>
        <p:spPr>
          <a:xfrm>
            <a:off x="1044019" y="681797"/>
            <a:ext cx="987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 create an empty block</a:t>
            </a:r>
          </a:p>
          <a:p>
            <a:pPr>
              <a:buNone/>
            </a:pPr>
            <a:r>
              <a:rPr lang="en-US" dirty="0"/>
              <a:t>Python requires at least one statement inside blocks (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for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function</a:t>
            </a:r>
            <a:r>
              <a:rPr lang="en-US" dirty="0"/>
              <a:t>, etc.)</a:t>
            </a:r>
          </a:p>
        </p:txBody>
      </p:sp>
    </p:spTree>
    <p:extLst>
      <p:ext uri="{BB962C8B-B14F-4D97-AF65-F5344CB8AC3E}">
        <p14:creationId xmlns:p14="http://schemas.microsoft.com/office/powerpoint/2010/main" val="26248300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7DC8-A69D-50DF-C10E-E382F6F5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format()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779F2-61DE-6645-63CA-5A9E51AF7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344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format() method</a:t>
            </a:r>
            <a:r>
              <a:rPr lang="en-US" dirty="0"/>
              <a:t> is used to insert values into a string and perform </a:t>
            </a:r>
            <a:r>
              <a:rPr lang="en-US" b="1" dirty="0"/>
              <a:t>string formatting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During formatting, we use </a:t>
            </a:r>
            <a:r>
              <a:rPr lang="en-US" b="1" dirty="0"/>
              <a:t>curly braces {}</a:t>
            </a:r>
            <a:r>
              <a:rPr lang="en-US" dirty="0"/>
              <a:t> as </a:t>
            </a:r>
            <a:r>
              <a:rPr lang="en-US" b="1" dirty="0"/>
              <a:t>placeholders</a:t>
            </a:r>
            <a:r>
              <a:rPr lang="en-US" dirty="0"/>
              <a:t>. These braces are replaced by the values provided to the format() method.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78D71-544E-AC1C-9670-057B871CED50}"/>
              </a:ext>
            </a:extLst>
          </p:cNvPr>
          <p:cNvSpPr txBox="1"/>
          <p:nvPr/>
        </p:nvSpPr>
        <p:spPr>
          <a:xfrm>
            <a:off x="1110006" y="3681497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Basic Syntax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"string {}".format(value)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2FFD0-8E91-9E4B-341D-AE74798B0592}"/>
              </a:ext>
            </a:extLst>
          </p:cNvPr>
          <p:cNvSpPr txBox="1"/>
          <p:nvPr/>
        </p:nvSpPr>
        <p:spPr>
          <a:xfrm>
            <a:off x="1110006" y="5088282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Remember: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{}</a:t>
            </a:r>
            <a:r>
              <a:rPr lang="en-US" dirty="0"/>
              <a:t> = </a:t>
            </a:r>
            <a:r>
              <a:rPr lang="en-US" b="1" dirty="0"/>
              <a:t>Placeholder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format()</a:t>
            </a:r>
            <a:r>
              <a:rPr lang="en-US" dirty="0"/>
              <a:t> = </a:t>
            </a:r>
            <a:r>
              <a:rPr lang="en-US" b="1" dirty="0"/>
              <a:t>Supplies the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398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67" y="150828"/>
            <a:ext cx="10767988" cy="6362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43245" y="6358237"/>
            <a:ext cx="450764" cy="1231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" dirty="0"/>
              <a:t>https://pyformat.info/</a:t>
            </a:r>
          </a:p>
        </p:txBody>
      </p:sp>
    </p:spTree>
    <p:extLst>
      <p:ext uri="{BB962C8B-B14F-4D97-AF65-F5344CB8AC3E}">
        <p14:creationId xmlns:p14="http://schemas.microsoft.com/office/powerpoint/2010/main" val="668597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String </a:t>
            </a:r>
            <a:r>
              <a:rPr lang="en-US" dirty="0" err="1"/>
              <a:t>formate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977" y="198759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This prints out "Hello, John!"</a:t>
            </a:r>
          </a:p>
          <a:p>
            <a:pPr marL="0" indent="0">
              <a:buNone/>
            </a:pPr>
            <a:r>
              <a:rPr lang="en-US" dirty="0"/>
              <a:t>name = "John"</a:t>
            </a:r>
          </a:p>
          <a:p>
            <a:pPr marL="0" indent="0">
              <a:buNone/>
            </a:pPr>
            <a:r>
              <a:rPr lang="en-US" dirty="0"/>
              <a:t>print("Hello, %s!" % name)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275" y="3342258"/>
            <a:ext cx="6561437" cy="55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12573" y="44105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 This prints out "John is 23 years old."</a:t>
            </a:r>
          </a:p>
          <a:p>
            <a:r>
              <a:rPr lang="en-US" dirty="0"/>
              <a:t>name = "John"</a:t>
            </a:r>
          </a:p>
          <a:p>
            <a:r>
              <a:rPr lang="en-US" dirty="0"/>
              <a:t>age = 23</a:t>
            </a:r>
          </a:p>
          <a:p>
            <a:r>
              <a:rPr lang="en-US" dirty="0"/>
              <a:t>print("%s is %d years old." % (name, age))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65" y="6065548"/>
            <a:ext cx="6672647" cy="465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52592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71A7-A2C7-E8FA-57FE-64422C04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68" y="232528"/>
            <a:ext cx="8596668" cy="1320800"/>
          </a:xfrm>
        </p:spPr>
        <p:txBody>
          <a:bodyPr/>
          <a:lstStyle/>
          <a:p>
            <a:r>
              <a:rPr lang="en-IN" dirty="0"/>
              <a:t>New String Format {}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12A1-3EC4-FD67-D5B6-169E24CE1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Basic format()</a:t>
            </a:r>
          </a:p>
          <a:p>
            <a:pPr marL="0" indent="0">
              <a:buNone/>
            </a:pPr>
            <a:r>
              <a:rPr lang="en-US" dirty="0"/>
              <a:t>name = "John"</a:t>
            </a:r>
          </a:p>
          <a:p>
            <a:pPr marL="0" indent="0">
              <a:buNone/>
            </a:pPr>
            <a:r>
              <a:rPr lang="en-US" dirty="0"/>
              <a:t>age = 23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print("My name is {} and I am {} years </a:t>
            </a:r>
            <a:r>
              <a:rPr lang="en-US" dirty="0" err="1"/>
              <a:t>old.".format</a:t>
            </a:r>
            <a:r>
              <a:rPr lang="en-US" dirty="0"/>
              <a:t>(name, age))</a:t>
            </a:r>
          </a:p>
          <a:p>
            <a:pPr marL="0" indent="0">
              <a:buNone/>
            </a:pPr>
            <a:r>
              <a:rPr lang="en-US" dirty="0"/>
              <a:t>‘</a:t>
            </a:r>
          </a:p>
          <a:p>
            <a:pPr marL="0" indent="0">
              <a:buNone/>
            </a:pPr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US" dirty="0"/>
              <a:t>My name is John and I am 23 years old.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2F3AC-60F5-79EA-4FBD-FB7C11C7B743}"/>
              </a:ext>
            </a:extLst>
          </p:cNvPr>
          <p:cNvSpPr txBox="1"/>
          <p:nvPr/>
        </p:nvSpPr>
        <p:spPr>
          <a:xfrm>
            <a:off x="6313602" y="4820246"/>
            <a:ext cx="5809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</a:rPr>
              <a:t>My name is {} and I am {} years old."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↑           ↑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      Placeholder    </a:t>
            </a:r>
            <a:r>
              <a:rPr lang="en-US" b="1" dirty="0" err="1">
                <a:latin typeface="Courier New" panose="02070309020205020404" pitchFamily="49" charset="0"/>
              </a:rPr>
              <a:t>Placeholder</a:t>
            </a:r>
            <a:endParaRPr lang="en-US" b="1" dirty="0">
              <a:latin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FDD68-9738-E6AD-C3BF-86E59844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27" y="4927599"/>
            <a:ext cx="5552675" cy="19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26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AE7F5-4822-279E-D9CE-001D13F0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9369-BBD6-CA72-A867-DA335A797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677CD-8EF9-96F7-9099-BF8E3D54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91" y="0"/>
            <a:ext cx="9817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318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76F5-310E-BDA2-CDC9-26B709F4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4036-77F3-91B5-3855-BC872196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44727-E536-18B4-F7F2-131DA8A37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99" y="99073"/>
            <a:ext cx="11633149" cy="651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72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2C25-D45A-49AE-D4C0-1F5A7130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6146-059E-7E60-249C-EF6296017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9AFBC-63DC-4571-3BD7-E8FD1EEE3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0" y="201650"/>
            <a:ext cx="10874682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264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80" y="238897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String format() Method {} :</a:t>
            </a:r>
            <a:br>
              <a:rPr lang="en-US" dirty="0"/>
            </a:br>
            <a:br>
              <a:rPr lang="en-US" dirty="0"/>
            </a:br>
            <a:r>
              <a:rPr lang="en-US" sz="2000" b="1" dirty="0">
                <a:solidFill>
                  <a:srgbClr val="7030A0"/>
                </a:solidFill>
              </a:rPr>
              <a:t>Python 3 </a:t>
            </a:r>
            <a:r>
              <a:rPr lang="en-US" sz="2000" dirty="0">
                <a:solidFill>
                  <a:srgbClr val="7030A0"/>
                </a:solidFill>
              </a:rPr>
              <a:t>format()</a:t>
            </a:r>
            <a:r>
              <a:rPr lang="en-US" sz="2000" b="1" dirty="0">
                <a:solidFill>
                  <a:srgbClr val="7030A0"/>
                </a:solidFill>
              </a:rPr>
              <a:t> method is used to perform format operations on string. While formatting string a delimiter {} (braces) is used to replace it with the value.</a:t>
            </a:r>
            <a:br>
              <a:rPr lang="en-US" sz="2000" b="1" dirty="0">
                <a:solidFill>
                  <a:srgbClr val="7030A0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37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#named indexes:</a:t>
            </a:r>
          </a:p>
          <a:p>
            <a:pPr marL="0" indent="0">
              <a:buNone/>
            </a:pPr>
            <a:r>
              <a:rPr lang="en-US" dirty="0"/>
              <a:t>txt1 = "My name is {</a:t>
            </a:r>
            <a:r>
              <a:rPr lang="en-US" dirty="0" err="1"/>
              <a:t>fname</a:t>
            </a:r>
            <a:r>
              <a:rPr lang="en-US" dirty="0"/>
              <a:t>}, I'm {age}".format(</a:t>
            </a:r>
            <a:r>
              <a:rPr lang="en-US" dirty="0" err="1"/>
              <a:t>fname</a:t>
            </a:r>
            <a:r>
              <a:rPr lang="en-US" dirty="0"/>
              <a:t> = "John", age = 36)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#numbered indexes:</a:t>
            </a:r>
          </a:p>
          <a:p>
            <a:pPr marL="0" indent="0">
              <a:buNone/>
            </a:pPr>
            <a:r>
              <a:rPr lang="en-US" dirty="0"/>
              <a:t>txt2 = "My name is {0}, I'm {1}".format("John",36)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#empty placeholders:</a:t>
            </a:r>
          </a:p>
          <a:p>
            <a:pPr marL="0" indent="0">
              <a:buNone/>
            </a:pPr>
            <a:r>
              <a:rPr lang="en-US" dirty="0"/>
              <a:t>txt3 = "My name is {}, I'm {}".format("John",36)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print(txt1)</a:t>
            </a:r>
          </a:p>
          <a:p>
            <a:pPr marL="0" indent="0">
              <a:buNone/>
            </a:pPr>
            <a:r>
              <a:rPr lang="en-US" dirty="0"/>
              <a:t>print(txt2)</a:t>
            </a:r>
          </a:p>
          <a:p>
            <a:pPr marL="0" indent="0">
              <a:buNone/>
            </a:pPr>
            <a:r>
              <a:rPr lang="en-US" dirty="0"/>
              <a:t>print(txt3)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292" y="5457567"/>
            <a:ext cx="2009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4841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054" y="881153"/>
            <a:ext cx="8596668" cy="447205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# Python format() function example  </a:t>
            </a:r>
          </a:p>
          <a:p>
            <a:pPr marL="0" indent="0">
              <a:buNone/>
            </a:pPr>
            <a:r>
              <a:rPr lang="en-US" sz="2000" b="1" dirty="0"/>
              <a:t># Variable declaration  </a:t>
            </a:r>
          </a:p>
          <a:p>
            <a:pPr marL="0" indent="0">
              <a:buNone/>
            </a:pPr>
            <a:r>
              <a:rPr lang="en-US" sz="2000" dirty="0" err="1"/>
              <a:t>str</a:t>
            </a:r>
            <a:r>
              <a:rPr lang="en-US" sz="2000" dirty="0"/>
              <a:t> = "Java"  </a:t>
            </a:r>
          </a:p>
          <a:p>
            <a:pPr marL="0" indent="0">
              <a:buNone/>
            </a:pPr>
            <a:r>
              <a:rPr lang="en-US" sz="2000" dirty="0"/>
              <a:t>str2 = "C#"  </a:t>
            </a:r>
          </a:p>
          <a:p>
            <a:pPr marL="0" indent="0">
              <a:buNone/>
            </a:pPr>
            <a:r>
              <a:rPr lang="en-US" sz="2000" b="1" dirty="0"/>
              <a:t># Calling function  </a:t>
            </a:r>
          </a:p>
          <a:p>
            <a:pPr marL="0" indent="0">
              <a:buNone/>
            </a:pPr>
            <a:r>
              <a:rPr lang="en-US" sz="2000" dirty="0"/>
              <a:t>str3 = "{} and {} both are programming </a:t>
            </a:r>
            <a:r>
              <a:rPr lang="en-US" sz="2000" dirty="0" err="1"/>
              <a:t>languages".format</a:t>
            </a:r>
            <a:r>
              <a:rPr lang="en-US" sz="2000" dirty="0"/>
              <a:t>(str,str2)  </a:t>
            </a:r>
          </a:p>
          <a:p>
            <a:pPr marL="0" indent="0">
              <a:buNone/>
            </a:pPr>
            <a:r>
              <a:rPr lang="en-US" sz="2000" b="1" dirty="0"/>
              <a:t># Displaying result  </a:t>
            </a:r>
          </a:p>
          <a:p>
            <a:pPr marL="0" indent="0">
              <a:buNone/>
            </a:pPr>
            <a:r>
              <a:rPr lang="en-US" sz="2000" dirty="0"/>
              <a:t>print(str3) 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0355" y="5806911"/>
            <a:ext cx="3619043" cy="314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927495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program to do arithmetical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259" y="1668162"/>
            <a:ext cx="8596668" cy="5189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/>
              <a:t># Store input numbers:  </a:t>
            </a:r>
          </a:p>
          <a:p>
            <a:pPr marL="0" indent="0">
              <a:buNone/>
            </a:pPr>
            <a:r>
              <a:rPr lang="en-US" sz="1900" b="1" dirty="0"/>
              <a:t>num1 = input('Enter first number: ')  </a:t>
            </a:r>
          </a:p>
          <a:p>
            <a:pPr marL="0" indent="0">
              <a:buNone/>
            </a:pPr>
            <a:r>
              <a:rPr lang="en-US" sz="1900" b="1" dirty="0"/>
              <a:t>num2 = input('Enter second number: ')  </a:t>
            </a:r>
          </a:p>
          <a:p>
            <a:pPr marL="0" indent="0">
              <a:buNone/>
            </a:pPr>
            <a:r>
              <a:rPr lang="en-US" sz="1900" b="1" dirty="0"/>
              <a:t>  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7030A0"/>
                </a:solidFill>
              </a:rPr>
              <a:t># Add two numbers  </a:t>
            </a:r>
          </a:p>
          <a:p>
            <a:pPr marL="0" indent="0">
              <a:buNone/>
            </a:pPr>
            <a:r>
              <a:rPr lang="en-US" sz="1900" b="1" dirty="0"/>
              <a:t>sum = float(num1) + float(num2)  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7030A0"/>
                </a:solidFill>
              </a:rPr>
              <a:t># Subtract two numbers  </a:t>
            </a:r>
          </a:p>
          <a:p>
            <a:pPr marL="0" indent="0">
              <a:buNone/>
            </a:pPr>
            <a:r>
              <a:rPr lang="en-US" sz="1900" b="1" dirty="0"/>
              <a:t>min = float(num1) - float(num2)  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7030A0"/>
                </a:solidFill>
              </a:rPr>
              <a:t># Multiply two numbers  </a:t>
            </a:r>
          </a:p>
          <a:p>
            <a:pPr marL="0" indent="0">
              <a:buNone/>
            </a:pPr>
            <a:r>
              <a:rPr lang="en-US" sz="1900" b="1" dirty="0" err="1"/>
              <a:t>mul</a:t>
            </a:r>
            <a:r>
              <a:rPr lang="en-US" sz="1900" b="1" dirty="0"/>
              <a:t> = float(num1) * float(num2)  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7030A0"/>
                </a:solidFill>
              </a:rPr>
              <a:t>#Divide two numbers  </a:t>
            </a:r>
          </a:p>
          <a:p>
            <a:pPr marL="0" indent="0">
              <a:buNone/>
            </a:pPr>
            <a:r>
              <a:rPr lang="en-US" sz="1900" b="1" dirty="0"/>
              <a:t>div = float(num1) / float(num2) </a:t>
            </a:r>
            <a:r>
              <a:rPr lang="en-US" sz="1900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495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480" y="764275"/>
            <a:ext cx="9225396" cy="411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# Display the sum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sum of {0} and {1} is {2}'.format(num1, num2, sum))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b="1" dirty="0"/>
              <a:t># Display the subtraction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subtraction of {0} and {1} is {2}'.format(num1, num2, min))  </a:t>
            </a:r>
          </a:p>
          <a:p>
            <a:pPr marL="0" indent="0">
              <a:buNone/>
            </a:pPr>
            <a:r>
              <a:rPr lang="en-US" b="1" dirty="0"/>
              <a:t># Display the multiplication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multiplication of {0} and {1} is {2}'.format(num1, num2, </a:t>
            </a:r>
            <a:r>
              <a:rPr lang="en-US" dirty="0" err="1"/>
              <a:t>mul</a:t>
            </a:r>
            <a:r>
              <a:rPr lang="en-US" dirty="0"/>
              <a:t>))  </a:t>
            </a:r>
          </a:p>
          <a:p>
            <a:pPr marL="0" indent="0">
              <a:buNone/>
            </a:pPr>
            <a:r>
              <a:rPr lang="en-US" b="1" dirty="0"/>
              <a:t># Display the division 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division of {0} and {1} is {2}'.format(num1, num2, div)) 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5117" y="4956561"/>
            <a:ext cx="4152825" cy="151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38383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66" y="448962"/>
            <a:ext cx="8596668" cy="1320800"/>
          </a:xfrm>
        </p:spPr>
        <p:txBody>
          <a:bodyPr/>
          <a:lstStyle/>
          <a:p>
            <a:r>
              <a:rPr lang="en-US" dirty="0"/>
              <a:t>Python program to swap two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5103"/>
            <a:ext cx="8596668" cy="47562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 Python swap program   </a:t>
            </a:r>
          </a:p>
          <a:p>
            <a:pPr marL="0" indent="0">
              <a:buNone/>
            </a:pPr>
            <a:r>
              <a:rPr lang="en-US" dirty="0"/>
              <a:t>x = input('Enter value of x: ')  </a:t>
            </a:r>
          </a:p>
          <a:p>
            <a:pPr marL="0" indent="0">
              <a:buNone/>
            </a:pPr>
            <a:r>
              <a:rPr lang="en-US" dirty="0"/>
              <a:t>y = input('Enter value of y: ')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# create a temporary variable and swap the values  </a:t>
            </a:r>
          </a:p>
          <a:p>
            <a:pPr marL="0" indent="0">
              <a:buNone/>
            </a:pPr>
            <a:r>
              <a:rPr lang="en-US" dirty="0"/>
              <a:t>temp = x  </a:t>
            </a:r>
          </a:p>
          <a:p>
            <a:pPr marL="0" indent="0">
              <a:buNone/>
            </a:pPr>
            <a:r>
              <a:rPr lang="en-US" dirty="0"/>
              <a:t>x = y  </a:t>
            </a:r>
          </a:p>
          <a:p>
            <a:pPr marL="0" indent="0">
              <a:buNone/>
            </a:pPr>
            <a:r>
              <a:rPr lang="en-US" dirty="0"/>
              <a:t>y = temp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value of x after swapping: {}'.format(x))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('The value of y after swapping: {}'.format(y)) 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47760" y="5931852"/>
            <a:ext cx="3105150" cy="48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65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Python Program to Check if a Number is Odd or Even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num</a:t>
            </a:r>
            <a:r>
              <a:rPr lang="en-US" dirty="0"/>
              <a:t> = </a:t>
            </a:r>
            <a:r>
              <a:rPr lang="en-US" dirty="0" err="1"/>
              <a:t>int</a:t>
            </a:r>
            <a:r>
              <a:rPr lang="en-US" dirty="0"/>
              <a:t>(input("Enter a number: "))  </a:t>
            </a:r>
          </a:p>
          <a:p>
            <a:pPr marL="0" indent="0">
              <a:buNone/>
            </a:pPr>
            <a:r>
              <a:rPr lang="en-US" b="1" dirty="0"/>
              <a:t>if</a:t>
            </a:r>
            <a:r>
              <a:rPr lang="en-US" dirty="0"/>
              <a:t> (</a:t>
            </a:r>
            <a:r>
              <a:rPr lang="en-US" dirty="0" err="1"/>
              <a:t>num</a:t>
            </a:r>
            <a:r>
              <a:rPr lang="en-US" dirty="0"/>
              <a:t> % 2) == 0: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b="1" dirty="0"/>
              <a:t>print</a:t>
            </a:r>
            <a:r>
              <a:rPr lang="en-US" dirty="0"/>
              <a:t>("{0} is Even </a:t>
            </a:r>
            <a:r>
              <a:rPr lang="en-US" dirty="0" err="1"/>
              <a:t>number".format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))  </a:t>
            </a:r>
          </a:p>
          <a:p>
            <a:pPr marL="0" indent="0">
              <a:buNone/>
            </a:pPr>
            <a:r>
              <a:rPr lang="en-US" b="1" dirty="0"/>
              <a:t>else</a:t>
            </a:r>
            <a:r>
              <a:rPr lang="en-US" dirty="0"/>
              <a:t>: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b="1" dirty="0"/>
              <a:t>print</a:t>
            </a:r>
            <a:r>
              <a:rPr lang="en-US" dirty="0"/>
              <a:t>("{0} is Odd </a:t>
            </a:r>
            <a:r>
              <a:rPr lang="en-US" dirty="0" err="1"/>
              <a:t>number".format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)) 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4107" y="4969364"/>
            <a:ext cx="1562100" cy="1021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92224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39" y="682339"/>
            <a:ext cx="8596668" cy="56429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Python Program to check if a Number is Positive, Negative or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39" y="1505681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num</a:t>
            </a:r>
            <a:r>
              <a:rPr lang="en-US" dirty="0"/>
              <a:t> = float(input("Enter a number: "))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b="1" dirty="0"/>
              <a:t>if</a:t>
            </a:r>
            <a:r>
              <a:rPr lang="en-US" dirty="0"/>
              <a:t> </a:t>
            </a:r>
            <a:r>
              <a:rPr lang="en-US" dirty="0" err="1"/>
              <a:t>num</a:t>
            </a:r>
            <a:r>
              <a:rPr lang="en-US" dirty="0"/>
              <a:t> &gt; 0: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print</a:t>
            </a:r>
            <a:r>
              <a:rPr lang="en-US" dirty="0"/>
              <a:t>("{0} is a positive </a:t>
            </a:r>
            <a:r>
              <a:rPr lang="en-US" dirty="0" err="1"/>
              <a:t>number".format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))  </a:t>
            </a:r>
          </a:p>
          <a:p>
            <a:pPr marL="0" indent="0">
              <a:buNone/>
            </a:pPr>
            <a:r>
              <a:rPr lang="en-US" b="1" dirty="0" err="1"/>
              <a:t>elif</a:t>
            </a:r>
            <a:r>
              <a:rPr lang="en-US" dirty="0"/>
              <a:t> </a:t>
            </a:r>
            <a:r>
              <a:rPr lang="en-US" dirty="0" err="1"/>
              <a:t>num</a:t>
            </a:r>
            <a:r>
              <a:rPr lang="en-US" dirty="0"/>
              <a:t> == 0: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b="1" dirty="0"/>
              <a:t>print</a:t>
            </a:r>
            <a:r>
              <a:rPr lang="en-US" dirty="0"/>
              <a:t>("{0} is </a:t>
            </a:r>
            <a:r>
              <a:rPr lang="en-US" dirty="0" err="1"/>
              <a:t>zero".format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))   </a:t>
            </a:r>
          </a:p>
          <a:p>
            <a:pPr marL="0" indent="0">
              <a:buNone/>
            </a:pPr>
            <a:r>
              <a:rPr lang="en-US" b="1" dirty="0"/>
              <a:t>else</a:t>
            </a:r>
            <a:r>
              <a:rPr lang="en-US" dirty="0"/>
              <a:t>: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b="1" dirty="0"/>
              <a:t>print</a:t>
            </a:r>
            <a:r>
              <a:rPr lang="en-US" dirty="0"/>
              <a:t>("{0} is negative </a:t>
            </a:r>
            <a:r>
              <a:rPr lang="en-US" dirty="0" err="1"/>
              <a:t>number".format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))  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3646" y="4918633"/>
            <a:ext cx="208470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2656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31F7-C15F-4039-A268-9A78AD1F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EEFD6-250A-61A6-34FE-752BB8E4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867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14324</TotalTime>
  <Words>3958</Words>
  <Application>Microsoft Office PowerPoint</Application>
  <PresentationFormat>Widescreen</PresentationFormat>
  <Paragraphs>660</Paragraphs>
  <Slides>83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PYTHON </vt:lpstr>
      <vt:lpstr>Python Variables, Constants and Literals </vt:lpstr>
      <vt:lpstr>Multiple Assignment: </vt:lpstr>
      <vt:lpstr>Multiple Assignment: </vt:lpstr>
      <vt:lpstr> Assigning multiple values to multiple variables </vt:lpstr>
      <vt:lpstr>String literals  </vt:lpstr>
      <vt:lpstr>Python Comments </vt:lpstr>
      <vt:lpstr>Python Data Type:</vt:lpstr>
      <vt:lpstr> Datatypes </vt:lpstr>
      <vt:lpstr>PowerPoint Presentation</vt:lpstr>
      <vt:lpstr> Python Strings </vt:lpstr>
      <vt:lpstr>PowerPoint Presentation</vt:lpstr>
      <vt:lpstr>Python Strings Using Slice</vt:lpstr>
      <vt:lpstr>Python Strings using Slice  </vt:lpstr>
      <vt:lpstr> Python Strings </vt:lpstr>
      <vt:lpstr>PowerPoint Presentation</vt:lpstr>
      <vt:lpstr>PowerPoint Presentation</vt:lpstr>
      <vt:lpstr>PowerPoint Presentation</vt:lpstr>
      <vt:lpstr>Python input():  </vt:lpstr>
      <vt:lpstr>Single Input Program  </vt:lpstr>
      <vt:lpstr>String + Integer Input</vt:lpstr>
      <vt:lpstr> Integer Input Program Problem Statement : Find square of a number </vt:lpstr>
      <vt:lpstr>Multiple Inputs (Same Line)</vt:lpstr>
      <vt:lpstr>Multiple Inputs (Different Lines)</vt:lpstr>
      <vt:lpstr>Real-Time Example (Payment)</vt:lpstr>
      <vt:lpstr>Data Types  Problem Statement #2  </vt:lpstr>
      <vt:lpstr>Program</vt:lpstr>
      <vt:lpstr>Program to enter details of an Student Marks and average and print them. ’</vt:lpstr>
      <vt:lpstr>PowerPoint Presentation</vt:lpstr>
      <vt:lpstr>Python Operator</vt:lpstr>
      <vt:lpstr>Arithmetic operators</vt:lpstr>
      <vt:lpstr>Program</vt:lpstr>
      <vt:lpstr>PowerPoint Presentation</vt:lpstr>
      <vt:lpstr>Relational Operators:</vt:lpstr>
      <vt:lpstr>PowerPoint Presentation</vt:lpstr>
      <vt:lpstr>PowerPoint Presentation</vt:lpstr>
      <vt:lpstr>PowerPoint Presentation</vt:lpstr>
      <vt:lpstr>Python Assignment Operators </vt:lpstr>
      <vt:lpstr>PowerPoint Presentation</vt:lpstr>
      <vt:lpstr>Python Logical Operators</vt:lpstr>
      <vt:lpstr>PowerPoint Presentation</vt:lpstr>
      <vt:lpstr>Membership operators</vt:lpstr>
      <vt:lpstr>PowerPoint Presentation</vt:lpstr>
      <vt:lpstr>Python Identity Operators </vt:lpstr>
      <vt:lpstr>PowerPoint Presentation</vt:lpstr>
      <vt:lpstr>PowerPoint Presentation</vt:lpstr>
      <vt:lpstr>Conditional Statements </vt:lpstr>
      <vt:lpstr>If statement:</vt:lpstr>
      <vt:lpstr>elif     elif statement allows you to check multiple expressions for TRUE and execute a block of code as soon as one of the conditions evaluates to TRUE. </vt:lpstr>
      <vt:lpstr>else</vt:lpstr>
      <vt:lpstr>else</vt:lpstr>
      <vt:lpstr>PowerPoint Presentation</vt:lpstr>
      <vt:lpstr>Nested IF Statements</vt:lpstr>
      <vt:lpstr>Python nested IF statements </vt:lpstr>
      <vt:lpstr>PowerPoint Presentation</vt:lpstr>
      <vt:lpstr>PowerPoint Presentation</vt:lpstr>
      <vt:lpstr>Loops</vt:lpstr>
      <vt:lpstr>while Loop Statements</vt:lpstr>
      <vt:lpstr>example</vt:lpstr>
      <vt:lpstr>PowerPoint Presentation</vt:lpstr>
      <vt:lpstr>for Loop Statements</vt:lpstr>
      <vt:lpstr>range() function</vt:lpstr>
      <vt:lpstr>PowerPoint Presentation</vt:lpstr>
      <vt:lpstr>PowerPoint Presentation</vt:lpstr>
      <vt:lpstr>Loop Control Statements</vt:lpstr>
      <vt:lpstr>Break / Continue statement</vt:lpstr>
      <vt:lpstr>1.break</vt:lpstr>
      <vt:lpstr>Pass statement</vt:lpstr>
      <vt:lpstr>Python format() Method</vt:lpstr>
      <vt:lpstr>PowerPoint Presentation</vt:lpstr>
      <vt:lpstr>Old String formate</vt:lpstr>
      <vt:lpstr>New String Format {} Method</vt:lpstr>
      <vt:lpstr>PowerPoint Presentation</vt:lpstr>
      <vt:lpstr>PowerPoint Presentation</vt:lpstr>
      <vt:lpstr>PowerPoint Presentation</vt:lpstr>
      <vt:lpstr>Python String format() Method {} :  Python 3 format() method is used to perform format operations on string. While formatting string a delimiter {} (braces) is used to replace it with the value.  </vt:lpstr>
      <vt:lpstr>PowerPoint Presentation</vt:lpstr>
      <vt:lpstr>Python program to do arithmetical operations </vt:lpstr>
      <vt:lpstr>PowerPoint Presentation</vt:lpstr>
      <vt:lpstr>Python program to swap two variables</vt:lpstr>
      <vt:lpstr>Python Program to Check if a Number is Odd or Even </vt:lpstr>
      <vt:lpstr>Python Program to check if a Number is Positive, Negative or Zero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admin</dc:creator>
  <cp:lastModifiedBy>Jayaprakash Subramaniam - Adjunct Faculty (WD)</cp:lastModifiedBy>
  <cp:revision>2496</cp:revision>
  <dcterms:created xsi:type="dcterms:W3CDTF">2017-12-06T04:46:07Z</dcterms:created>
  <dcterms:modified xsi:type="dcterms:W3CDTF">2026-09-23T05:45:05Z</dcterms:modified>
</cp:coreProperties>
</file>